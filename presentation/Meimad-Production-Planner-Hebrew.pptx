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223" autoAdjust="0"/>
  </p:normalViewPr>
  <p:slideViewPr>
    <p:cSldViewPr snapToGrid="0">
      <p:cViewPr varScale="1">
        <p:scale>
          <a:sx n="73" d="100"/>
          <a:sy n="73" d="100"/>
        </p:scale>
        <p:origin x="19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AI-generated industrial visual created for this deck.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https://github.com/Mihavin/Meimad-ProductionPlanner/blob/main/README.md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- https://github.com/Mihavin/Meimad-ProductionPlanner/blob/main/README.md</a:t>
            </a:r>
          </a:p>
          <a:p>
            <a:r>
              <a:t>- https://github.com/Mihavin/Meimad-ProductionPlanner/blob/main/docs/functional-spec.md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- https://github.com/Mihavin/Meimad-ProductionPlanner/blob/main/README.md</a:t>
            </a:r>
          </a:p>
          <a:p>
            <a:r>
              <a:t>- https://github.com/Mihavin/Meimad-ProductionPlanner/blob/main/docs/data-model.md</a:t>
            </a:r>
          </a:p>
          <a:p>
            <a:r>
              <a:t>- https://github.com/Mihavin/Meimad-ProductionPlanner/blob/main/docs/architecture.md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User-provided screenshot captured from the installed Meimad Planner application: Planning Board.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https://github.com/Mihavin/Meimad-ProductionPlanner/blob/main/README.md</a:t>
            </a:r>
          </a:p>
          <a:p>
            <a:r>
              <a:t>- https://github.com/Mihavin/Meimad-ProductionPlanner/blob/main/docs/functional-spec.md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User-provided screenshot captured from the installed Meimad Planner application: Timeline.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https://github.com/Mihavin/Meimad-ProductionPlanner/blob/main/README.md</a:t>
            </a:r>
          </a:p>
          <a:p>
            <a:r>
              <a:t>- https://github.com/Mihavin/Meimad-ProductionPlanner/blob/main/docs/functional-spec.md</a:t>
            </a:r>
          </a:p>
          <a:p>
            <a:r>
              <a:t>- https://github.com/Mihavin/Meimad-ProductionPlanner/blob/main/docs/data-model.md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User-provided screenshot captured from the installed Meimad Planner application: Case STEP Viewer.</a:t>
            </a:r>
          </a:p>
          <a:p>
            <a:r>
              <a:t>User-provided screenshot captured from the installed Meimad Planner application: Orders tab.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https://github.com/Mihavin/Meimad-ProductionPlanner/blob/main/README.md</a:t>
            </a:r>
          </a:p>
          <a:p>
            <a:r>
              <a:t>- https://github.com/Mihavin/Meimad-ProductionPlanner/blob/main/docs/data-model.md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User-provided screenshot captured from the installed Meimad Planner application: Operations and Released G-code.</a:t>
            </a:r>
          </a:p>
          <a:p>
            <a:r>
              <a:t>User-provided screenshot captured from the installed Meimad Planner application: Production readiness dialog.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https://github.com/Mihavin/Meimad-ProductionPlanner/blob/main/docs/gcode-readiness-architecture.md</a:t>
            </a:r>
          </a:p>
          <a:p>
            <a:r>
              <a:t>- https://github.com/Mihavin/Meimad-ProductionPlanner/blob/main/README.md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User-provided screenshot captured from the installed Meimad Planner Server: Kitaron connector.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https://github.com/Mihavin/Meimad-ProductionPlanner/blob/main/docs/architecture.md</a:t>
            </a:r>
          </a:p>
          <a:p>
            <a:r>
              <a:t>- https://github.com/Mihavin/Meimad-ProductionPlanner/blob/main/docs/kitaron-database-mapping-analysis.md</a:t>
            </a:r>
          </a:p>
          <a:p>
            <a:r>
              <a:t>- https://github.com/Mihavin/Meimad-ProductionPlanner/blob/main/README.md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- https://github.com/Mihavin/Meimad-ProductionPlanner/blob/main/README.md</a:t>
            </a:r>
          </a:p>
          <a:p>
            <a:r>
              <a:t>- https://github.com/Mihavin/Meimad-ProductionPlanner/blob/main/docs/verification-report.md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- https://github.com/Mihavin/Meimad-ProductionPlanner/blob/main/README.md</a:t>
            </a:r>
          </a:p>
          <a:p>
            <a:r>
              <a:t>- https://github.com/Mihavin/Meimad-ProductionPlanner/blob/main/docs/verification-report.md</a:t>
            </a:r>
          </a:p>
          <a:p>
            <a:r>
              <a:t>- https://github.com/Mihavin/Meimad-ProductionPlanner/blob/main/docs/kitaron-database-mapping-analysis.md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ver-kicker">
            <a:extLst>
              <a:ext uri="{FF2B5EF4-FFF2-40B4-BE49-F238E27FC236}">
                <a16:creationId xmlns:a16="http://schemas.microsoft.com/office/drawing/2014/main" id="{E8940FEF-0066-4080-ADF1-927AFB903F53}"/>
              </a:ext>
            </a:extLst>
          </p:cNvPr>
          <p:cNvSpPr>
            <a:spLocks noGrp="1"/>
          </p:cNvSpPr>
          <p:nvPr/>
        </p:nvSpPr>
        <p:spPr>
          <a:xfrm>
            <a:off x="6705600" y="514350"/>
            <a:ext cx="502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תכנון CNC מקומי למפעל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A1E073A1-8CD1-4C9F-AFC5-C42A640BA9F9}"/>
              </a:ext>
            </a:extLst>
          </p:cNvPr>
          <p:cNvSpPr>
            <a:spLocks noGrp="1"/>
          </p:cNvSpPr>
          <p:nvPr/>
        </p:nvSpPr>
        <p:spPr>
          <a:xfrm>
            <a:off x="6705600" y="1314450"/>
            <a:ext cx="5029200" cy="8618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495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4950" b="1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Meimad</a:t>
            </a:r>
            <a:r>
              <a:rPr lang="en-US" sz="4950" b="1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Planner</a:t>
            </a:r>
            <a:endParaRPr sz="4950" b="1" dirty="0">
              <a:solidFill>
                <a:srgbClr val="0C1B2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C841A398-615E-45FF-8406-0855EC2B17B8}"/>
              </a:ext>
            </a:extLst>
          </p:cNvPr>
          <p:cNvSpPr>
            <a:spLocks noGrp="1"/>
          </p:cNvSpPr>
          <p:nvPr/>
        </p:nvSpPr>
        <p:spPr>
          <a:xfrm>
            <a:off x="6705600" y="3524250"/>
            <a:ext cx="50292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8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הופך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ביקוש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,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מסלולי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ייצור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ותורי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מכונות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לציר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זמן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מוסבר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—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בלי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לקחת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את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השליטה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מידי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המתכנן</a:t>
            </a:r>
            <a:r>
              <a:rPr sz="1875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cover-accent">
            <a:extLst>
              <a:ext uri="{FF2B5EF4-FFF2-40B4-BE49-F238E27FC236}">
                <a16:creationId xmlns:a16="http://schemas.microsoft.com/office/drawing/2014/main" id="{0A511169-97EF-4EFF-B98A-95456B5D368A}"/>
              </a:ext>
            </a:extLst>
          </p:cNvPr>
          <p:cNvSpPr>
            <a:spLocks noGrp="1"/>
          </p:cNvSpPr>
          <p:nvPr/>
        </p:nvSpPr>
        <p:spPr>
          <a:xfrm>
            <a:off x="10687050" y="5429250"/>
            <a:ext cx="1047750" cy="76200"/>
          </a:xfrm>
          <a:prstGeom prst="rect">
            <a:avLst/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5" name="cover-edition">
            <a:extLst>
              <a:ext uri="{FF2B5EF4-FFF2-40B4-BE49-F238E27FC236}">
                <a16:creationId xmlns:a16="http://schemas.microsoft.com/office/drawing/2014/main" id="{02BB7E5B-15B4-4C78-8270-4065812378D3}"/>
              </a:ext>
            </a:extLst>
          </p:cNvPr>
          <p:cNvSpPr>
            <a:spLocks noGrp="1"/>
          </p:cNvSpPr>
          <p:nvPr/>
        </p:nvSpPr>
        <p:spPr>
          <a:xfrm>
            <a:off x="7353300" y="571500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7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סקירת מוצר  •  אוגוסט 2026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l="22932" r="22932"/>
          <a:stretch>
            <a:fillRect/>
          </a:stretch>
        </p:blipFill>
        <p:spPr>
          <a:xfrm>
            <a:off x="400050" y="323850"/>
            <a:ext cx="5772150" cy="6000750"/>
          </a:xfrm>
          <a:prstGeom prst="roundRect">
            <a:avLst>
              <a:gd name="adj" fmla="val 2970"/>
            </a:avLst>
          </a:prstGeom>
        </p:spPr>
      </p:pic>
    </p:spTree>
    <p:extLst>
      <p:ext uri="{BB962C8B-B14F-4D97-AF65-F5344CB8AC3E}">
        <p14:creationId xmlns:p14="http://schemas.microsoft.com/office/powerpoint/2010/main" val="350549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-2">
            <a:extLst>
              <a:ext uri="{FF2B5EF4-FFF2-40B4-BE49-F238E27FC236}">
                <a16:creationId xmlns:a16="http://schemas.microsoft.com/office/drawing/2014/main" id="{95FB8EA8-ACE7-489B-A32C-568AFEAE6932}"/>
              </a:ext>
            </a:extLst>
          </p:cNvPr>
          <p:cNvSpPr>
            <a:spLocks noGrp="1"/>
          </p:cNvSpPr>
          <p:nvPr/>
        </p:nvSpPr>
        <p:spPr>
          <a:xfrm>
            <a:off x="7734300" y="342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75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סקירת מוצר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13728E0B-5024-4C54-9664-D5A77FD07932}"/>
              </a:ext>
            </a:extLst>
          </p:cNvPr>
          <p:cNvSpPr>
            <a:spLocks noGrp="1"/>
          </p:cNvSpPr>
          <p:nvPr/>
        </p:nvSpPr>
        <p:spPr>
          <a:xfrm>
            <a:off x="419100" y="647700"/>
            <a:ext cx="11315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585"/>
          </a:bodyPr>
          <a:lstStyle/>
          <a:p>
            <a:pPr algn="r" rtl="1">
              <a:defRPr sz="33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רשימת עבודה משותפת לא מסבירה את ההשלכות של כל שינוי</a:t>
            </a:r>
          </a:p>
        </p:txBody>
      </p:sp>
      <p:cxnSp>
        <p:nvCxnSpPr>
          <p:cNvPr id="27" name="title-rule-2"/>
          <p:cNvCxnSpPr/>
          <p:nvPr/>
        </p:nvCxnSpPr>
        <p:spPr>
          <a:xfrm>
            <a:off x="419100" y="1438275"/>
            <a:ext cx="11334750" cy="0"/>
          </a:xfrm>
          <a:prstGeom prst="straightConnector1">
            <a:avLst/>
          </a:prstGeom>
          <a:ln w="9525">
            <a:solidFill>
              <a:srgbClr val="B8C2C8"/>
            </a:solidFill>
            <a:prstDash val="solid"/>
          </a:ln>
        </p:spPr>
      </p:cxnSp>
      <p:sp>
        <p:nvSpPr>
          <p:cNvPr id="4" name="problem-lead">
            <a:extLst>
              <a:ext uri="{FF2B5EF4-FFF2-40B4-BE49-F238E27FC236}">
                <a16:creationId xmlns:a16="http://schemas.microsoft.com/office/drawing/2014/main" id="{7E12AB46-2EBD-490A-B1A1-1CA63438D239}"/>
              </a:ext>
            </a:extLst>
          </p:cNvPr>
          <p:cNvSpPr>
            <a:spLocks noGrp="1"/>
          </p:cNvSpPr>
          <p:nvPr/>
        </p:nvSpPr>
        <p:spPr>
          <a:xfrm>
            <a:off x="6115050" y="1752600"/>
            <a:ext cx="56578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875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כאשר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הביקוש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, </a:t>
            </a: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מגבלות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הכיוון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וקיבולת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המכונות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נמצאים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במקומות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שונים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, </a:t>
            </a: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לוח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הייצור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הופך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לשיחה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שברירית</a:t>
            </a:r>
            <a:r>
              <a:rPr sz="1875" b="0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problem-panel">
            <a:extLst>
              <a:ext uri="{FF2B5EF4-FFF2-40B4-BE49-F238E27FC236}">
                <a16:creationId xmlns:a16="http://schemas.microsoft.com/office/drawing/2014/main" id="{7A6A522C-076F-4F1D-B21A-F6810EF6D94B}"/>
              </a:ext>
            </a:extLst>
          </p:cNvPr>
          <p:cNvSpPr>
            <a:spLocks noGrp="1"/>
          </p:cNvSpPr>
          <p:nvPr/>
        </p:nvSpPr>
        <p:spPr>
          <a:xfrm>
            <a:off x="6191250" y="3143250"/>
            <a:ext cx="558165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6" name="problem-panel-title">
            <a:extLst>
              <a:ext uri="{FF2B5EF4-FFF2-40B4-BE49-F238E27FC236}">
                <a16:creationId xmlns:a16="http://schemas.microsoft.com/office/drawing/2014/main" id="{EFB301F5-28B4-49BE-A706-C3D21FDD77E1}"/>
              </a:ext>
            </a:extLst>
          </p:cNvPr>
          <p:cNvSpPr>
            <a:spLocks noGrp="1"/>
          </p:cNvSpPr>
          <p:nvPr/>
        </p:nvSpPr>
        <p:spPr>
          <a:xfrm>
            <a:off x="6705600" y="339090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8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התסמינים התפעוליים</a:t>
            </a:r>
          </a:p>
        </p:txBody>
      </p:sp>
      <p:sp>
        <p:nvSpPr>
          <p:cNvPr id="7" name="problem-bullets-dot-0">
            <a:extLst>
              <a:ext uri="{FF2B5EF4-FFF2-40B4-BE49-F238E27FC236}">
                <a16:creationId xmlns:a16="http://schemas.microsoft.com/office/drawing/2014/main" id="{069B7D7D-50CC-45F2-8495-F3442423CA38}"/>
              </a:ext>
            </a:extLst>
          </p:cNvPr>
          <p:cNvSpPr>
            <a:spLocks noGrp="1"/>
          </p:cNvSpPr>
          <p:nvPr/>
        </p:nvSpPr>
        <p:spPr>
          <a:xfrm>
            <a:off x="11182350" y="4019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8" name="problem-bullets-text-0">
            <a:extLst>
              <a:ext uri="{FF2B5EF4-FFF2-40B4-BE49-F238E27FC236}">
                <a16:creationId xmlns:a16="http://schemas.microsoft.com/office/drawing/2014/main" id="{D1829556-24BF-4062-ABA8-BD1780DB15F7}"/>
              </a:ext>
            </a:extLst>
          </p:cNvPr>
          <p:cNvSpPr>
            <a:spLocks noGrp="1"/>
          </p:cNvSpPr>
          <p:nvPr/>
        </p:nvSpPr>
        <p:spPr>
          <a:xfrm>
            <a:off x="6705600" y="3943350"/>
            <a:ext cx="430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סדרי עדיפויות משתנים בלי לראות את השפעת הקיבולת</a:t>
            </a:r>
          </a:p>
        </p:txBody>
      </p:sp>
      <p:sp>
        <p:nvSpPr>
          <p:cNvPr id="9" name="problem-bullets-dot-1">
            <a:extLst>
              <a:ext uri="{FF2B5EF4-FFF2-40B4-BE49-F238E27FC236}">
                <a16:creationId xmlns:a16="http://schemas.microsoft.com/office/drawing/2014/main" id="{F2FD16ED-A8F0-4C20-B46F-DCA2D9E630C3}"/>
              </a:ext>
            </a:extLst>
          </p:cNvPr>
          <p:cNvSpPr>
            <a:spLocks noGrp="1"/>
          </p:cNvSpPr>
          <p:nvPr/>
        </p:nvSpPr>
        <p:spPr>
          <a:xfrm>
            <a:off x="11182350" y="4572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0" name="problem-bullets-text-1">
            <a:extLst>
              <a:ext uri="{FF2B5EF4-FFF2-40B4-BE49-F238E27FC236}">
                <a16:creationId xmlns:a16="http://schemas.microsoft.com/office/drawing/2014/main" id="{FBEFA2D8-2564-46F3-93E3-D451FD43E874}"/>
              </a:ext>
            </a:extLst>
          </p:cNvPr>
          <p:cNvSpPr>
            <a:spLocks noGrp="1"/>
          </p:cNvSpPr>
          <p:nvPr/>
        </p:nvSpPr>
        <p:spPr>
          <a:xfrm>
            <a:off x="6705600" y="4495800"/>
            <a:ext cx="430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מגבלות כיוון ותלויות מתגלות מאוחר מדי</a:t>
            </a:r>
          </a:p>
        </p:txBody>
      </p:sp>
      <p:sp>
        <p:nvSpPr>
          <p:cNvPr id="11" name="problem-bullets-dot-2">
            <a:extLst>
              <a:ext uri="{FF2B5EF4-FFF2-40B4-BE49-F238E27FC236}">
                <a16:creationId xmlns:a16="http://schemas.microsoft.com/office/drawing/2014/main" id="{FD6DD57B-DBF6-4F27-BB1F-F7EFB8BE3A74}"/>
              </a:ext>
            </a:extLst>
          </p:cNvPr>
          <p:cNvSpPr>
            <a:spLocks noGrp="1"/>
          </p:cNvSpPr>
          <p:nvPr/>
        </p:nvSpPr>
        <p:spPr>
          <a:xfrm>
            <a:off x="11182350" y="5124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2" name="problem-bullets-text-2">
            <a:extLst>
              <a:ext uri="{FF2B5EF4-FFF2-40B4-BE49-F238E27FC236}">
                <a16:creationId xmlns:a16="http://schemas.microsoft.com/office/drawing/2014/main" id="{FA45FADE-B75A-4A43-84A7-575A23AA8E76}"/>
              </a:ext>
            </a:extLst>
          </p:cNvPr>
          <p:cNvSpPr>
            <a:spLocks noGrp="1"/>
          </p:cNvSpPr>
          <p:nvPr/>
        </p:nvSpPr>
        <p:spPr>
          <a:xfrm>
            <a:off x="6705600" y="5048250"/>
            <a:ext cx="430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מניחים שמוכנים לייצור במקום להוכיח זאת</a:t>
            </a:r>
          </a:p>
        </p:txBody>
      </p:sp>
      <p:sp>
        <p:nvSpPr>
          <p:cNvPr id="13" name="solution-panel">
            <a:extLst>
              <a:ext uri="{FF2B5EF4-FFF2-40B4-BE49-F238E27FC236}">
                <a16:creationId xmlns:a16="http://schemas.microsoft.com/office/drawing/2014/main" id="{A3A41083-B812-4749-8D31-AD83B12B7AF5}"/>
              </a:ext>
            </a:extLst>
          </p:cNvPr>
          <p:cNvSpPr>
            <a:spLocks noGrp="1"/>
          </p:cNvSpPr>
          <p:nvPr/>
        </p:nvSpPr>
        <p:spPr>
          <a:xfrm>
            <a:off x="419100" y="1752600"/>
            <a:ext cx="5391150" cy="4057650"/>
          </a:xfrm>
          <a:prstGeom prst="roundRect">
            <a:avLst>
              <a:gd name="adj" fmla="val 2347"/>
            </a:avLst>
          </a:prstGeom>
          <a:solidFill>
            <a:srgbClr val="071722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4" name="solution-small">
            <a:extLst>
              <a:ext uri="{FF2B5EF4-FFF2-40B4-BE49-F238E27FC236}">
                <a16:creationId xmlns:a16="http://schemas.microsoft.com/office/drawing/2014/main" id="{E2383A5F-CB22-45B3-BF67-99A1B8E38884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455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75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התפקיד של MEIMAD</a:t>
            </a:r>
          </a:p>
        </p:txBody>
      </p:sp>
      <p:sp>
        <p:nvSpPr>
          <p:cNvPr id="15" name="solution-claim">
            <a:extLst>
              <a:ext uri="{FF2B5EF4-FFF2-40B4-BE49-F238E27FC236}">
                <a16:creationId xmlns:a16="http://schemas.microsoft.com/office/drawing/2014/main" id="{2BE1C1D9-FF5E-431A-A085-8B95C9C025F9}"/>
              </a:ext>
            </a:extLst>
          </p:cNvPr>
          <p:cNvSpPr>
            <a:spLocks noGrp="1"/>
          </p:cNvSpPr>
          <p:nvPr/>
        </p:nvSpPr>
        <p:spPr>
          <a:xfrm>
            <a:off x="742950" y="2533650"/>
            <a:ext cx="45529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תוכנית</a:t>
            </a:r>
            <a:r>
              <a:rPr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אחת</a:t>
            </a:r>
            <a:r>
              <a:rPr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בשליטה</a:t>
            </a:r>
            <a:r>
              <a:rPr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</a:t>
            </a:r>
          </a:p>
          <a:p>
            <a:pPr algn="r" rtl="1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עם</a:t>
            </a:r>
            <a:r>
              <a:rPr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השלכות</a:t>
            </a:r>
            <a:r>
              <a:rPr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גלויות</a:t>
            </a:r>
            <a:r>
              <a:rPr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cxnSp>
        <p:nvCxnSpPr>
          <p:cNvPr id="40" name="solution-rule"/>
          <p:cNvCxnSpPr/>
          <p:nvPr/>
        </p:nvCxnSpPr>
        <p:spPr>
          <a:xfrm>
            <a:off x="742950" y="4000500"/>
            <a:ext cx="4552950" cy="0"/>
          </a:xfrm>
          <a:prstGeom prst="straightConnector1">
            <a:avLst/>
          </a:prstGeom>
          <a:ln w="9525">
            <a:solidFill>
              <a:srgbClr val="365260"/>
            </a:solidFill>
            <a:prstDash val="solid"/>
          </a:ln>
        </p:spPr>
      </p:cxnSp>
      <p:sp>
        <p:nvSpPr>
          <p:cNvPr id="17" name="solution-bullets-dot-0">
            <a:extLst>
              <a:ext uri="{FF2B5EF4-FFF2-40B4-BE49-F238E27FC236}">
                <a16:creationId xmlns:a16="http://schemas.microsoft.com/office/drawing/2014/main" id="{B26AD9C0-C307-4692-A36C-E82285E74D65}"/>
              </a:ext>
            </a:extLst>
          </p:cNvPr>
          <p:cNvSpPr>
            <a:spLocks noGrp="1"/>
          </p:cNvSpPr>
          <p:nvPr/>
        </p:nvSpPr>
        <p:spPr>
          <a:xfrm>
            <a:off x="5200650" y="4400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8" name="solution-bullets-text-0">
            <a:extLst>
              <a:ext uri="{FF2B5EF4-FFF2-40B4-BE49-F238E27FC236}">
                <a16:creationId xmlns:a16="http://schemas.microsoft.com/office/drawing/2014/main" id="{8BDB63CA-0CB2-4A6E-914B-0A8584CE70F5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הקצאה וסדר עבודה בשליטת אדם</a:t>
            </a:r>
          </a:p>
        </p:txBody>
      </p:sp>
      <p:sp>
        <p:nvSpPr>
          <p:cNvPr id="19" name="solution-bullets-dot-1">
            <a:extLst>
              <a:ext uri="{FF2B5EF4-FFF2-40B4-BE49-F238E27FC236}">
                <a16:creationId xmlns:a16="http://schemas.microsoft.com/office/drawing/2014/main" id="{AFC1D06F-591A-4A88-BF9D-DB5963702E6F}"/>
              </a:ext>
            </a:extLst>
          </p:cNvPr>
          <p:cNvSpPr>
            <a:spLocks noGrp="1"/>
          </p:cNvSpPr>
          <p:nvPr/>
        </p:nvSpPr>
        <p:spPr>
          <a:xfrm>
            <a:off x="5200650" y="4895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20" name="solution-bullets-text-1">
            <a:extLst>
              <a:ext uri="{FF2B5EF4-FFF2-40B4-BE49-F238E27FC236}">
                <a16:creationId xmlns:a16="http://schemas.microsoft.com/office/drawing/2014/main" id="{37F4B4E6-323A-47C0-9D08-06AF024DE3C7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ציר</a:t>
            </a:r>
            <a:r>
              <a:rPr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זמן</a:t>
            </a:r>
            <a:r>
              <a:rPr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וקונפליקטים</a:t>
            </a:r>
            <a:r>
              <a:rPr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המחושבים</a:t>
            </a:r>
            <a:r>
              <a:rPr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בשרת</a:t>
            </a:r>
            <a:endParaRPr sz="15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olution-bullets-dot-2">
            <a:extLst>
              <a:ext uri="{FF2B5EF4-FFF2-40B4-BE49-F238E27FC236}">
                <a16:creationId xmlns:a16="http://schemas.microsoft.com/office/drawing/2014/main" id="{9F92E952-5B3B-413A-9C7F-D0AC0513274C}"/>
              </a:ext>
            </a:extLst>
          </p:cNvPr>
          <p:cNvSpPr>
            <a:spLocks noGrp="1"/>
          </p:cNvSpPr>
          <p:nvPr/>
        </p:nvSpPr>
        <p:spPr>
          <a:xfrm>
            <a:off x="5200650" y="5391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22" name="solution-bullets-text-2">
            <a:extLst>
              <a:ext uri="{FF2B5EF4-FFF2-40B4-BE49-F238E27FC236}">
                <a16:creationId xmlns:a16="http://schemas.microsoft.com/office/drawing/2014/main" id="{F68C91D2-F3E3-457C-9894-E06B7C3A5FFB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תמונת מוכנות וביצוע אחת</a:t>
            </a:r>
          </a:p>
        </p:txBody>
      </p:sp>
      <p:sp>
        <p:nvSpPr>
          <p:cNvPr id="23" name="footer-brand-2">
            <a:extLst>
              <a:ext uri="{FF2B5EF4-FFF2-40B4-BE49-F238E27FC236}">
                <a16:creationId xmlns:a16="http://schemas.microsoft.com/office/drawing/2014/main" id="{6808926A-03EF-4F3D-B289-F23CEEB8CBCC}"/>
              </a:ext>
            </a:extLst>
          </p:cNvPr>
          <p:cNvSpPr>
            <a:spLocks noGrp="1"/>
          </p:cNvSpPr>
          <p:nvPr/>
        </p:nvSpPr>
        <p:spPr>
          <a:xfrm>
            <a:off x="400050" y="6438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MEIMAD  |  תכנון ייצור</a:t>
            </a:r>
          </a:p>
        </p:txBody>
      </p:sp>
      <p:sp>
        <p:nvSpPr>
          <p:cNvPr id="24" name="footer-page-2">
            <a:extLst>
              <a:ext uri="{FF2B5EF4-FFF2-40B4-BE49-F238E27FC236}">
                <a16:creationId xmlns:a16="http://schemas.microsoft.com/office/drawing/2014/main" id="{6700C488-1663-4E42-8A12-B360BE4284B6}"/>
              </a:ext>
            </a:extLst>
          </p:cNvPr>
          <p:cNvSpPr>
            <a:spLocks noGrp="1"/>
          </p:cNvSpPr>
          <p:nvPr/>
        </p:nvSpPr>
        <p:spPr>
          <a:xfrm>
            <a:off x="11287125" y="64389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9658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3">
            <a:extLst>
              <a:ext uri="{FF2B5EF4-FFF2-40B4-BE49-F238E27FC236}">
                <a16:creationId xmlns:a16="http://schemas.microsoft.com/office/drawing/2014/main" id="{AB3B48D3-435C-4DF8-9510-841DBCC35A8B}"/>
              </a:ext>
            </a:extLst>
          </p:cNvPr>
          <p:cNvSpPr>
            <a:spLocks noGrp="1"/>
          </p:cNvSpPr>
          <p:nvPr/>
        </p:nvSpPr>
        <p:spPr>
          <a:xfrm>
            <a:off x="7734300" y="342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75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סקירת מוצר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947FF0AB-14F2-41CB-BA35-D3B0A3C61E11}"/>
              </a:ext>
            </a:extLst>
          </p:cNvPr>
          <p:cNvSpPr>
            <a:spLocks noGrp="1"/>
          </p:cNvSpPr>
          <p:nvPr/>
        </p:nvSpPr>
        <p:spPr>
          <a:xfrm>
            <a:off x="419100" y="647700"/>
            <a:ext cx="11315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3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זרימה אחת מחברת בין ביקוש הלקוח לביצוע במכונה</a:t>
            </a:r>
          </a:p>
        </p:txBody>
      </p:sp>
      <p:cxnSp>
        <p:nvCxnSpPr>
          <p:cNvPr id="38" name="title-rule-3"/>
          <p:cNvCxnSpPr/>
          <p:nvPr/>
        </p:nvCxnSpPr>
        <p:spPr>
          <a:xfrm>
            <a:off x="419100" y="1438275"/>
            <a:ext cx="11334750" cy="0"/>
          </a:xfrm>
          <a:prstGeom prst="straightConnector1">
            <a:avLst/>
          </a:prstGeom>
          <a:ln w="9525">
            <a:solidFill>
              <a:srgbClr val="B8C2C8"/>
            </a:solidFill>
            <a:prstDash val="solid"/>
          </a:ln>
        </p:spPr>
      </p:cxnSp>
      <p:sp>
        <p:nvSpPr>
          <p:cNvPr id="4" name="flow-lead">
            <a:extLst>
              <a:ext uri="{FF2B5EF4-FFF2-40B4-BE49-F238E27FC236}">
                <a16:creationId xmlns:a16="http://schemas.microsoft.com/office/drawing/2014/main" id="{0BB5D307-4FE4-4094-9300-531BDBADD62B}"/>
              </a:ext>
            </a:extLst>
          </p:cNvPr>
          <p:cNvSpPr>
            <a:spLocks noGrp="1"/>
          </p:cNvSpPr>
          <p:nvPr/>
        </p:nvSpPr>
        <p:spPr>
          <a:xfrm>
            <a:off x="3543300" y="1695450"/>
            <a:ext cx="819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6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כל</a:t>
            </a:r>
            <a:r>
              <a:rPr sz="1650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החלטה</a:t>
            </a:r>
            <a:r>
              <a:rPr sz="1650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מפורשת</a:t>
            </a:r>
            <a:r>
              <a:rPr sz="1650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, </a:t>
            </a:r>
            <a:r>
              <a:rPr sz="1650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ניתנת</a:t>
            </a:r>
            <a:r>
              <a:rPr sz="1650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למעקב</a:t>
            </a:r>
            <a:r>
              <a:rPr sz="1650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ומחושבת</a:t>
            </a:r>
            <a:r>
              <a:rPr sz="1650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52636D"/>
                </a:solidFill>
                <a:latin typeface="Arial"/>
                <a:ea typeface="Arial"/>
                <a:cs typeface="Arial"/>
              </a:rPr>
              <a:t>בשרת</a:t>
            </a:r>
            <a:r>
              <a:rPr sz="1650" b="0" dirty="0">
                <a:solidFill>
                  <a:srgbClr val="52636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cxnSp>
        <p:nvCxnSpPr>
          <p:cNvPr id="40" name="flow-c1"/>
          <p:cNvCxnSpPr/>
          <p:nvPr/>
        </p:nvCxnSpPr>
        <p:spPr>
          <a:xfrm>
            <a:off x="3429000" y="3267075"/>
            <a:ext cx="742950" cy="0"/>
          </a:xfrm>
          <a:prstGeom prst="straightConnector1">
            <a:avLst/>
          </a:prstGeom>
          <a:ln w="38100">
            <a:solidFill>
              <a:srgbClr val="2EC4C7"/>
            </a:solidFill>
            <a:prstDash val="solid"/>
          </a:ln>
        </p:spPr>
      </p:cxnSp>
      <p:cxnSp>
        <p:nvCxnSpPr>
          <p:cNvPr id="41" name="flow-c2"/>
          <p:cNvCxnSpPr/>
          <p:nvPr/>
        </p:nvCxnSpPr>
        <p:spPr>
          <a:xfrm>
            <a:off x="7162800" y="3267075"/>
            <a:ext cx="742950" cy="0"/>
          </a:xfrm>
          <a:prstGeom prst="straightConnector1">
            <a:avLst/>
          </a:prstGeom>
          <a:ln w="38100">
            <a:solidFill>
              <a:srgbClr val="2EC4C7"/>
            </a:solidFill>
            <a:prstDash val="solid"/>
          </a:ln>
        </p:spPr>
      </p:cxnSp>
      <p:cxnSp>
        <p:nvCxnSpPr>
          <p:cNvPr id="42" name="flow-c3"/>
          <p:cNvCxnSpPr/>
          <p:nvPr/>
        </p:nvCxnSpPr>
        <p:spPr>
          <a:xfrm>
            <a:off x="9906000" y="3752850"/>
            <a:ext cx="0" cy="590550"/>
          </a:xfrm>
          <a:prstGeom prst="straightConnector1">
            <a:avLst/>
          </a:prstGeom>
          <a:ln w="38100">
            <a:solidFill>
              <a:srgbClr val="2EC4C7"/>
            </a:solidFill>
            <a:prstDash val="solid"/>
          </a:ln>
        </p:spPr>
      </p:cxnSp>
      <p:cxnSp>
        <p:nvCxnSpPr>
          <p:cNvPr id="43" name="flow-c4"/>
          <p:cNvCxnSpPr/>
          <p:nvPr/>
        </p:nvCxnSpPr>
        <p:spPr>
          <a:xfrm>
            <a:off x="6419850" y="5362575"/>
            <a:ext cx="742950" cy="0"/>
          </a:xfrm>
          <a:prstGeom prst="straightConnector1">
            <a:avLst/>
          </a:prstGeom>
          <a:ln w="38100">
            <a:solidFill>
              <a:srgbClr val="2EC4C7"/>
            </a:solidFill>
            <a:prstDash val="solid"/>
          </a:ln>
        </p:spPr>
      </p:cxnSp>
      <p:cxnSp>
        <p:nvCxnSpPr>
          <p:cNvPr id="44" name="flow-c5"/>
          <p:cNvCxnSpPr/>
          <p:nvPr/>
        </p:nvCxnSpPr>
        <p:spPr>
          <a:xfrm>
            <a:off x="2686050" y="5362575"/>
            <a:ext cx="742950" cy="0"/>
          </a:xfrm>
          <a:prstGeom prst="straightConnector1">
            <a:avLst/>
          </a:prstGeom>
          <a:ln w="38100">
            <a:solidFill>
              <a:srgbClr val="2EC4C7"/>
            </a:solidFill>
            <a:prstDash val="solid"/>
          </a:ln>
        </p:spPr>
      </p:cxnSp>
      <p:sp>
        <p:nvSpPr>
          <p:cNvPr id="10" name="flow-node-0">
            <a:extLst>
              <a:ext uri="{FF2B5EF4-FFF2-40B4-BE49-F238E27FC236}">
                <a16:creationId xmlns:a16="http://schemas.microsoft.com/office/drawing/2014/main" id="{97D47F79-7D2A-495F-929D-241DA75E41B9}"/>
              </a:ext>
            </a:extLst>
          </p:cNvPr>
          <p:cNvSpPr>
            <a:spLocks noGrp="1"/>
          </p:cNvSpPr>
          <p:nvPr/>
        </p:nvSpPr>
        <p:spPr>
          <a:xfrm>
            <a:off x="8058150" y="2457450"/>
            <a:ext cx="3143250" cy="1638300"/>
          </a:xfrm>
          <a:prstGeom prst="roundRect">
            <a:avLst>
              <a:gd name="adj" fmla="val 5814"/>
            </a:avLst>
          </a:prstGeom>
          <a:solidFill>
            <a:srgbClr val="F4F7F8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1" name="flow-num-0">
            <a:extLst>
              <a:ext uri="{FF2B5EF4-FFF2-40B4-BE49-F238E27FC236}">
                <a16:creationId xmlns:a16="http://schemas.microsoft.com/office/drawing/2014/main" id="{7EC0A331-8D5F-4C98-9DB1-F12CBBF1770D}"/>
              </a:ext>
            </a:extLst>
          </p:cNvPr>
          <p:cNvSpPr>
            <a:spLocks noGrp="1"/>
          </p:cNvSpPr>
          <p:nvPr/>
        </p:nvSpPr>
        <p:spPr>
          <a:xfrm>
            <a:off x="8286750" y="26479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flow-title-0">
            <a:extLst>
              <a:ext uri="{FF2B5EF4-FFF2-40B4-BE49-F238E27FC236}">
                <a16:creationId xmlns:a16="http://schemas.microsoft.com/office/drawing/2014/main" id="{A78C0EEE-A002-467B-81F2-B206A2FC64D3}"/>
              </a:ext>
            </a:extLst>
          </p:cNvPr>
          <p:cNvSpPr>
            <a:spLocks noGrp="1"/>
          </p:cNvSpPr>
          <p:nvPr/>
        </p:nvSpPr>
        <p:spPr>
          <a:xfrm>
            <a:off x="8286750" y="2952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8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ביקוש ERP</a:t>
            </a:r>
          </a:p>
        </p:txBody>
      </p:sp>
      <p:sp>
        <p:nvSpPr>
          <p:cNvPr id="13" name="flow-desc-0">
            <a:extLst>
              <a:ext uri="{FF2B5EF4-FFF2-40B4-BE49-F238E27FC236}">
                <a16:creationId xmlns:a16="http://schemas.microsoft.com/office/drawing/2014/main" id="{B741D892-F48E-438D-BD2C-26D8B02C89D4}"/>
              </a:ext>
            </a:extLst>
          </p:cNvPr>
          <p:cNvSpPr>
            <a:spLocks noGrp="1"/>
          </p:cNvSpPr>
          <p:nvPr/>
        </p:nvSpPr>
        <p:spPr>
          <a:xfrm>
            <a:off x="8286750" y="33528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2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Cases ו־Orders נכנסים בסנכרון חד־כיווני מ־Kitaron או בייבוא מבוקר.</a:t>
            </a:r>
          </a:p>
        </p:txBody>
      </p:sp>
      <p:sp>
        <p:nvSpPr>
          <p:cNvPr id="14" name="flow-node-1">
            <a:extLst>
              <a:ext uri="{FF2B5EF4-FFF2-40B4-BE49-F238E27FC236}">
                <a16:creationId xmlns:a16="http://schemas.microsoft.com/office/drawing/2014/main" id="{5221A875-C704-49A0-89C9-63E732477D87}"/>
              </a:ext>
            </a:extLst>
          </p:cNvPr>
          <p:cNvSpPr>
            <a:spLocks noGrp="1"/>
          </p:cNvSpPr>
          <p:nvPr/>
        </p:nvSpPr>
        <p:spPr>
          <a:xfrm>
            <a:off x="4324350" y="2457450"/>
            <a:ext cx="3143250" cy="1638300"/>
          </a:xfrm>
          <a:prstGeom prst="roundRect">
            <a:avLst>
              <a:gd name="adj" fmla="val 5814"/>
            </a:avLst>
          </a:prstGeom>
          <a:solidFill>
            <a:srgbClr val="F4F7F8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5" name="flow-num-1">
            <a:extLst>
              <a:ext uri="{FF2B5EF4-FFF2-40B4-BE49-F238E27FC236}">
                <a16:creationId xmlns:a16="http://schemas.microsoft.com/office/drawing/2014/main" id="{A5D3A9AB-AF36-4AA6-95E3-5BD127402E06}"/>
              </a:ext>
            </a:extLst>
          </p:cNvPr>
          <p:cNvSpPr>
            <a:spLocks noGrp="1"/>
          </p:cNvSpPr>
          <p:nvPr/>
        </p:nvSpPr>
        <p:spPr>
          <a:xfrm>
            <a:off x="4552950" y="26479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flow-title-1">
            <a:extLst>
              <a:ext uri="{FF2B5EF4-FFF2-40B4-BE49-F238E27FC236}">
                <a16:creationId xmlns:a16="http://schemas.microsoft.com/office/drawing/2014/main" id="{5E800B8C-CA26-48F4-B27B-AA9AF7397A24}"/>
              </a:ext>
            </a:extLst>
          </p:cNvPr>
          <p:cNvSpPr>
            <a:spLocks noGrp="1"/>
          </p:cNvSpPr>
          <p:nvPr/>
        </p:nvSpPr>
        <p:spPr>
          <a:xfrm>
            <a:off x="4552950" y="2952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8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מסלול ה־Case</a:t>
            </a:r>
          </a:p>
        </p:txBody>
      </p:sp>
      <p:sp>
        <p:nvSpPr>
          <p:cNvPr id="17" name="flow-desc-1">
            <a:extLst>
              <a:ext uri="{FF2B5EF4-FFF2-40B4-BE49-F238E27FC236}">
                <a16:creationId xmlns:a16="http://schemas.microsoft.com/office/drawing/2014/main" id="{E7F38FF2-D94F-44CC-BC56-E48BA1743A26}"/>
              </a:ext>
            </a:extLst>
          </p:cNvPr>
          <p:cNvSpPr>
            <a:spLocks noGrp="1"/>
          </p:cNvSpPr>
          <p:nvPr/>
        </p:nvSpPr>
        <p:spPr>
          <a:xfrm>
            <a:off x="4552950" y="33528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2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פעולות, תלויות, זמנים וסוגי מכונות תואמים לשימוש חוזר.</a:t>
            </a:r>
          </a:p>
        </p:txBody>
      </p:sp>
      <p:sp>
        <p:nvSpPr>
          <p:cNvPr id="18" name="flow-node-2">
            <a:extLst>
              <a:ext uri="{FF2B5EF4-FFF2-40B4-BE49-F238E27FC236}">
                <a16:creationId xmlns:a16="http://schemas.microsoft.com/office/drawing/2014/main" id="{E07AF414-9C96-44E7-BC23-035F2BEF24FB}"/>
              </a:ext>
            </a:extLst>
          </p:cNvPr>
          <p:cNvSpPr>
            <a:spLocks noGrp="1"/>
          </p:cNvSpPr>
          <p:nvPr/>
        </p:nvSpPr>
        <p:spPr>
          <a:xfrm>
            <a:off x="590550" y="2457450"/>
            <a:ext cx="3143250" cy="1638300"/>
          </a:xfrm>
          <a:prstGeom prst="roundRect">
            <a:avLst>
              <a:gd name="adj" fmla="val 5814"/>
            </a:avLst>
          </a:prstGeom>
          <a:solidFill>
            <a:srgbClr val="071722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9" name="flow-num-2">
            <a:extLst>
              <a:ext uri="{FF2B5EF4-FFF2-40B4-BE49-F238E27FC236}">
                <a16:creationId xmlns:a16="http://schemas.microsoft.com/office/drawing/2014/main" id="{A8DB933C-7B73-4721-9141-96BF870CC4D0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125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flow-title-2">
            <a:extLst>
              <a:ext uri="{FF2B5EF4-FFF2-40B4-BE49-F238E27FC236}">
                <a16:creationId xmlns:a16="http://schemas.microsoft.com/office/drawing/2014/main" id="{574A5133-F84D-4C81-9175-A75905AF3C3D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מנת ייצור</a:t>
            </a:r>
          </a:p>
        </p:txBody>
      </p:sp>
      <p:sp>
        <p:nvSpPr>
          <p:cNvPr id="21" name="flow-desc-2">
            <a:extLst>
              <a:ext uri="{FF2B5EF4-FFF2-40B4-BE49-F238E27FC236}">
                <a16:creationId xmlns:a16="http://schemas.microsoft.com/office/drawing/2014/main" id="{494687CE-8BDF-461F-B637-CC270BD041D2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275" b="0">
                <a:solidFill>
                  <a:srgbClr val="CAD8D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AD8DE"/>
                </a:solidFill>
                <a:latin typeface="Arial"/>
                <a:ea typeface="Arial"/>
                <a:cs typeface="Arial"/>
              </a:rPr>
              <a:t>כמות משוחררת מקפיאה תמונת מסלול והקצאת ביקוש.</a:t>
            </a:r>
          </a:p>
        </p:txBody>
      </p:sp>
      <p:sp>
        <p:nvSpPr>
          <p:cNvPr id="22" name="flow-node-3">
            <a:extLst>
              <a:ext uri="{FF2B5EF4-FFF2-40B4-BE49-F238E27FC236}">
                <a16:creationId xmlns:a16="http://schemas.microsoft.com/office/drawing/2014/main" id="{C723953F-8684-4FBF-AA38-AB5A890C216D}"/>
              </a:ext>
            </a:extLst>
          </p:cNvPr>
          <p:cNvSpPr>
            <a:spLocks noGrp="1"/>
          </p:cNvSpPr>
          <p:nvPr/>
        </p:nvSpPr>
        <p:spPr>
          <a:xfrm>
            <a:off x="590550" y="4552950"/>
            <a:ext cx="3143250" cy="1638300"/>
          </a:xfrm>
          <a:prstGeom prst="roundRect">
            <a:avLst>
              <a:gd name="adj" fmla="val 5814"/>
            </a:avLst>
          </a:prstGeom>
          <a:solidFill>
            <a:srgbClr val="F4F7F8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23" name="flow-num-3">
            <a:extLst>
              <a:ext uri="{FF2B5EF4-FFF2-40B4-BE49-F238E27FC236}">
                <a16:creationId xmlns:a16="http://schemas.microsoft.com/office/drawing/2014/main" id="{7D14C7B3-570B-472E-9769-8010E3652D5D}"/>
              </a:ext>
            </a:extLst>
          </p:cNvPr>
          <p:cNvSpPr>
            <a:spLocks noGrp="1"/>
          </p:cNvSpPr>
          <p:nvPr/>
        </p:nvSpPr>
        <p:spPr>
          <a:xfrm>
            <a:off x="819150" y="47434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flow-title-3">
            <a:extLst>
              <a:ext uri="{FF2B5EF4-FFF2-40B4-BE49-F238E27FC236}">
                <a16:creationId xmlns:a16="http://schemas.microsoft.com/office/drawing/2014/main" id="{6C2713E1-C2EB-4E49-920B-E6A909641FE7}"/>
              </a:ext>
            </a:extLst>
          </p:cNvPr>
          <p:cNvSpPr>
            <a:spLocks noGrp="1"/>
          </p:cNvSpPr>
          <p:nvPr/>
        </p:nvSpPr>
        <p:spPr>
          <a:xfrm>
            <a:off x="819150" y="50482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8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תור המכונה</a:t>
            </a:r>
          </a:p>
        </p:txBody>
      </p:sp>
      <p:sp>
        <p:nvSpPr>
          <p:cNvPr id="25" name="flow-desc-3">
            <a:extLst>
              <a:ext uri="{FF2B5EF4-FFF2-40B4-BE49-F238E27FC236}">
                <a16:creationId xmlns:a16="http://schemas.microsoft.com/office/drawing/2014/main" id="{93D9E01A-271D-44E2-A64E-18B720F8A053}"/>
              </a:ext>
            </a:extLst>
          </p:cNvPr>
          <p:cNvSpPr>
            <a:spLocks noGrp="1"/>
          </p:cNvSpPr>
          <p:nvPr/>
        </p:nvSpPr>
        <p:spPr>
          <a:xfrm>
            <a:off x="819150" y="54483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2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המתכנן מקצה ומסדר את העבודה ידנית.</a:t>
            </a:r>
          </a:p>
        </p:txBody>
      </p:sp>
      <p:sp>
        <p:nvSpPr>
          <p:cNvPr id="26" name="flow-node-4">
            <a:extLst>
              <a:ext uri="{FF2B5EF4-FFF2-40B4-BE49-F238E27FC236}">
                <a16:creationId xmlns:a16="http://schemas.microsoft.com/office/drawing/2014/main" id="{8AEEBE3E-D93B-48D7-8AFD-17CFAA9315E5}"/>
              </a:ext>
            </a:extLst>
          </p:cNvPr>
          <p:cNvSpPr>
            <a:spLocks noGrp="1"/>
          </p:cNvSpPr>
          <p:nvPr/>
        </p:nvSpPr>
        <p:spPr>
          <a:xfrm>
            <a:off x="4324350" y="4552950"/>
            <a:ext cx="3143250" cy="1638300"/>
          </a:xfrm>
          <a:prstGeom prst="roundRect">
            <a:avLst>
              <a:gd name="adj" fmla="val 5814"/>
            </a:avLst>
          </a:prstGeom>
          <a:solidFill>
            <a:srgbClr val="F4F7F8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27" name="flow-num-4">
            <a:extLst>
              <a:ext uri="{FF2B5EF4-FFF2-40B4-BE49-F238E27FC236}">
                <a16:creationId xmlns:a16="http://schemas.microsoft.com/office/drawing/2014/main" id="{4224993B-474C-4B33-B4A7-9C0DBBF16F6C}"/>
              </a:ext>
            </a:extLst>
          </p:cNvPr>
          <p:cNvSpPr>
            <a:spLocks noGrp="1"/>
          </p:cNvSpPr>
          <p:nvPr/>
        </p:nvSpPr>
        <p:spPr>
          <a:xfrm>
            <a:off x="4552950" y="47434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flow-title-4">
            <a:extLst>
              <a:ext uri="{FF2B5EF4-FFF2-40B4-BE49-F238E27FC236}">
                <a16:creationId xmlns:a16="http://schemas.microsoft.com/office/drawing/2014/main" id="{8815EAEE-8DEF-4740-8F42-65DB63E20612}"/>
              </a:ext>
            </a:extLst>
          </p:cNvPr>
          <p:cNvSpPr>
            <a:spLocks noGrp="1"/>
          </p:cNvSpPr>
          <p:nvPr/>
        </p:nvSpPr>
        <p:spPr>
          <a:xfrm>
            <a:off x="4552950" y="50482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8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ציר זמן וקונפליקטים</a:t>
            </a:r>
          </a:p>
        </p:txBody>
      </p:sp>
      <p:sp>
        <p:nvSpPr>
          <p:cNvPr id="29" name="flow-desc-4">
            <a:extLst>
              <a:ext uri="{FF2B5EF4-FFF2-40B4-BE49-F238E27FC236}">
                <a16:creationId xmlns:a16="http://schemas.microsoft.com/office/drawing/2014/main" id="{8E369B39-A056-4674-89C6-7EF6B6A19AF8}"/>
              </a:ext>
            </a:extLst>
          </p:cNvPr>
          <p:cNvSpPr>
            <a:spLocks noGrp="1"/>
          </p:cNvSpPr>
          <p:nvPr/>
        </p:nvSpPr>
        <p:spPr>
          <a:xfrm>
            <a:off x="4552950" y="54483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2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יומנים, עובדים, השבתות ותלויות חושפים את ההשלכות.</a:t>
            </a:r>
          </a:p>
        </p:txBody>
      </p:sp>
      <p:sp>
        <p:nvSpPr>
          <p:cNvPr id="30" name="flow-node-5">
            <a:extLst>
              <a:ext uri="{FF2B5EF4-FFF2-40B4-BE49-F238E27FC236}">
                <a16:creationId xmlns:a16="http://schemas.microsoft.com/office/drawing/2014/main" id="{B4784873-558B-42EB-B096-7572E32699A3}"/>
              </a:ext>
            </a:extLst>
          </p:cNvPr>
          <p:cNvSpPr>
            <a:spLocks noGrp="1"/>
          </p:cNvSpPr>
          <p:nvPr/>
        </p:nvSpPr>
        <p:spPr>
          <a:xfrm>
            <a:off x="8058150" y="4552950"/>
            <a:ext cx="3143250" cy="1638300"/>
          </a:xfrm>
          <a:prstGeom prst="roundRect">
            <a:avLst>
              <a:gd name="adj" fmla="val 5814"/>
            </a:avLst>
          </a:prstGeom>
          <a:solidFill>
            <a:srgbClr val="F4F7F8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31" name="flow-num-5">
            <a:extLst>
              <a:ext uri="{FF2B5EF4-FFF2-40B4-BE49-F238E27FC236}">
                <a16:creationId xmlns:a16="http://schemas.microsoft.com/office/drawing/2014/main" id="{48433AAD-5C32-43A2-9819-DFC8B5924459}"/>
              </a:ext>
            </a:extLst>
          </p:cNvPr>
          <p:cNvSpPr>
            <a:spLocks noGrp="1"/>
          </p:cNvSpPr>
          <p:nvPr/>
        </p:nvSpPr>
        <p:spPr>
          <a:xfrm>
            <a:off x="8286750" y="47434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flow-title-5">
            <a:extLst>
              <a:ext uri="{FF2B5EF4-FFF2-40B4-BE49-F238E27FC236}">
                <a16:creationId xmlns:a16="http://schemas.microsoft.com/office/drawing/2014/main" id="{0564FDEA-324D-4B4D-A766-F531ADEA62CE}"/>
              </a:ext>
            </a:extLst>
          </p:cNvPr>
          <p:cNvSpPr>
            <a:spLocks noGrp="1"/>
          </p:cNvSpPr>
          <p:nvPr/>
        </p:nvSpPr>
        <p:spPr>
          <a:xfrm>
            <a:off x="8286750" y="50482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8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משוב ביצוע</a:t>
            </a:r>
          </a:p>
        </p:txBody>
      </p:sp>
      <p:sp>
        <p:nvSpPr>
          <p:cNvPr id="33" name="flow-desc-5">
            <a:extLst>
              <a:ext uri="{FF2B5EF4-FFF2-40B4-BE49-F238E27FC236}">
                <a16:creationId xmlns:a16="http://schemas.microsoft.com/office/drawing/2014/main" id="{2AA19A61-76C5-46DF-836F-9B08E057969E}"/>
              </a:ext>
            </a:extLst>
          </p:cNvPr>
          <p:cNvSpPr>
            <a:spLocks noGrp="1"/>
          </p:cNvSpPr>
          <p:nvPr/>
        </p:nvSpPr>
        <p:spPr>
          <a:xfrm>
            <a:off x="8286750" y="54483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2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התחלה, השהיה וסיום בפועל נשמרים בנפרד מהתחזית.</a:t>
            </a:r>
          </a:p>
        </p:txBody>
      </p:sp>
      <p:sp>
        <p:nvSpPr>
          <p:cNvPr id="34" name="footer-brand-3">
            <a:extLst>
              <a:ext uri="{FF2B5EF4-FFF2-40B4-BE49-F238E27FC236}">
                <a16:creationId xmlns:a16="http://schemas.microsoft.com/office/drawing/2014/main" id="{B69F101E-1E40-4CB8-8675-91EA78B9681A}"/>
              </a:ext>
            </a:extLst>
          </p:cNvPr>
          <p:cNvSpPr>
            <a:spLocks noGrp="1"/>
          </p:cNvSpPr>
          <p:nvPr/>
        </p:nvSpPr>
        <p:spPr>
          <a:xfrm>
            <a:off x="400050" y="6438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MEIMAD  |  תכנון ייצור</a:t>
            </a:r>
          </a:p>
        </p:txBody>
      </p:sp>
      <p:sp>
        <p:nvSpPr>
          <p:cNvPr id="35" name="footer-page-3">
            <a:extLst>
              <a:ext uri="{FF2B5EF4-FFF2-40B4-BE49-F238E27FC236}">
                <a16:creationId xmlns:a16="http://schemas.microsoft.com/office/drawing/2014/main" id="{801B7245-311B-4E2D-8CEE-E1DB3B32BEA1}"/>
              </a:ext>
            </a:extLst>
          </p:cNvPr>
          <p:cNvSpPr>
            <a:spLocks noGrp="1"/>
          </p:cNvSpPr>
          <p:nvPr/>
        </p:nvSpPr>
        <p:spPr>
          <a:xfrm>
            <a:off x="11287125" y="64389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5138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kicker-4">
            <a:extLst>
              <a:ext uri="{FF2B5EF4-FFF2-40B4-BE49-F238E27FC236}">
                <a16:creationId xmlns:a16="http://schemas.microsoft.com/office/drawing/2014/main" id="{88AE542D-BFF6-4F84-91AF-3E5F5BA71FBD}"/>
              </a:ext>
            </a:extLst>
          </p:cNvPr>
          <p:cNvSpPr>
            <a:spLocks noGrp="1"/>
          </p:cNvSpPr>
          <p:nvPr/>
        </p:nvSpPr>
        <p:spPr>
          <a:xfrm>
            <a:off x="7734300" y="342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75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המוצר בפעולה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A6C35B7B-2216-4CBE-A570-FC89FF6AEA39}"/>
              </a:ext>
            </a:extLst>
          </p:cNvPr>
          <p:cNvSpPr>
            <a:spLocks noGrp="1"/>
          </p:cNvSpPr>
          <p:nvPr/>
        </p:nvSpPr>
        <p:spPr>
          <a:xfrm>
            <a:off x="419100" y="647700"/>
            <a:ext cx="11315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3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3300" b="1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תכנון</a:t>
            </a:r>
            <a:r>
              <a:rPr sz="3300" b="1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ידני</a:t>
            </a:r>
            <a:r>
              <a:rPr sz="3300" b="1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, </a:t>
            </a:r>
            <a:r>
              <a:rPr sz="3300" b="1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עם</a:t>
            </a:r>
            <a:r>
              <a:rPr sz="3300" b="1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תמונת</a:t>
            </a:r>
            <a:r>
              <a:rPr sz="3300" b="1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עומס</a:t>
            </a:r>
            <a:r>
              <a:rPr sz="3300" b="1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מלאה</a:t>
            </a:r>
            <a:r>
              <a:rPr sz="3300" b="1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לכל</a:t>
            </a:r>
            <a:r>
              <a:rPr sz="3300" b="1" dirty="0">
                <a:solidFill>
                  <a:srgbClr val="0C1B24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מכונה</a:t>
            </a:r>
            <a:endParaRPr sz="3300" b="1" dirty="0">
              <a:solidFill>
                <a:srgbClr val="0C1B24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1" name="title-rule-4"/>
          <p:cNvCxnSpPr/>
          <p:nvPr/>
        </p:nvCxnSpPr>
        <p:spPr>
          <a:xfrm>
            <a:off x="419100" y="1438275"/>
            <a:ext cx="11334750" cy="0"/>
          </a:xfrm>
          <a:prstGeom prst="straightConnector1">
            <a:avLst/>
          </a:prstGeom>
          <a:ln w="9525">
            <a:solidFill>
              <a:srgbClr val="B8C2C8"/>
            </a:solidFill>
            <a:prstDash val="solid"/>
          </a:ln>
        </p:spPr>
      </p:cxnSp>
      <p:sp>
        <p:nvSpPr>
          <p:cNvPr id="4" name="planning-lead">
            <a:extLst>
              <a:ext uri="{FF2B5EF4-FFF2-40B4-BE49-F238E27FC236}">
                <a16:creationId xmlns:a16="http://schemas.microsoft.com/office/drawing/2014/main" id="{98E6CB92-C40C-4EE8-814A-F688DC9D90D3}"/>
              </a:ext>
            </a:extLst>
          </p:cNvPr>
          <p:cNvSpPr>
            <a:spLocks noGrp="1"/>
          </p:cNvSpPr>
          <p:nvPr/>
        </p:nvSpPr>
        <p:spPr>
          <a:xfrm>
            <a:off x="3009900" y="1562100"/>
            <a:ext cx="872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המתכנן גורר פעולות בין תורים ומשנה את הסדר — והשרת שומר את לוח המכונות כמקור אמת משותף.</a:t>
            </a:r>
          </a:p>
        </p:txBody>
      </p:sp>
      <p:sp>
        <p:nvSpPr>
          <p:cNvPr id="5" name="planning-frame">
            <a:extLst>
              <a:ext uri="{FF2B5EF4-FFF2-40B4-BE49-F238E27FC236}">
                <a16:creationId xmlns:a16="http://schemas.microsoft.com/office/drawing/2014/main" id="{DEFFFC8B-6D2B-4FDF-B1C1-F02E101D3763}"/>
              </a:ext>
            </a:extLst>
          </p:cNvPr>
          <p:cNvSpPr>
            <a:spLocks noGrp="1"/>
          </p:cNvSpPr>
          <p:nvPr/>
        </p:nvSpPr>
        <p:spPr>
          <a:xfrm>
            <a:off x="361950" y="1962150"/>
            <a:ext cx="8705850" cy="4400550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8124" y="2019300"/>
            <a:ext cx="7993502" cy="4286250"/>
          </a:xfrm>
          <a:prstGeom prst="rect">
            <a:avLst/>
          </a:prstGeom>
        </p:spPr>
      </p:pic>
      <p:sp>
        <p:nvSpPr>
          <p:cNvPr id="7" name="planning-callout">
            <a:extLst>
              <a:ext uri="{FF2B5EF4-FFF2-40B4-BE49-F238E27FC236}">
                <a16:creationId xmlns:a16="http://schemas.microsoft.com/office/drawing/2014/main" id="{84BEF502-8AF1-45F7-9EA8-BFFC712DD103}"/>
              </a:ext>
            </a:extLst>
          </p:cNvPr>
          <p:cNvSpPr>
            <a:spLocks noGrp="1"/>
          </p:cNvSpPr>
          <p:nvPr/>
        </p:nvSpPr>
        <p:spPr>
          <a:xfrm>
            <a:off x="9277350" y="1962150"/>
            <a:ext cx="2495550" cy="4400550"/>
          </a:xfrm>
          <a:prstGeom prst="roundRect">
            <a:avLst>
              <a:gd name="adj" fmla="val 3817"/>
            </a:avLst>
          </a:prstGeom>
          <a:solidFill>
            <a:srgbClr val="071722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8" name="planning-callout-k">
            <a:extLst>
              <a:ext uri="{FF2B5EF4-FFF2-40B4-BE49-F238E27FC236}">
                <a16:creationId xmlns:a16="http://schemas.microsoft.com/office/drawing/2014/main" id="{80335576-3931-4664-9580-2CCE8D2DA2AA}"/>
              </a:ext>
            </a:extLst>
          </p:cNvPr>
          <p:cNvSpPr>
            <a:spLocks noGrp="1"/>
          </p:cNvSpPr>
          <p:nvPr/>
        </p:nvSpPr>
        <p:spPr>
          <a:xfrm>
            <a:off x="9525000" y="22098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00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PLANNING BOARD</a:t>
            </a:r>
          </a:p>
        </p:txBody>
      </p:sp>
      <p:sp>
        <p:nvSpPr>
          <p:cNvPr id="9" name="planning-callout-t">
            <a:extLst>
              <a:ext uri="{FF2B5EF4-FFF2-40B4-BE49-F238E27FC236}">
                <a16:creationId xmlns:a16="http://schemas.microsoft.com/office/drawing/2014/main" id="{B9E02595-D9BD-4F4A-8B61-8B7B522502ED}"/>
              </a:ext>
            </a:extLst>
          </p:cNvPr>
          <p:cNvSpPr>
            <a:spLocks noGrp="1"/>
          </p:cNvSpPr>
          <p:nvPr/>
        </p:nvSpPr>
        <p:spPr>
          <a:xfrm>
            <a:off x="9525000" y="2647950"/>
            <a:ext cx="200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02"/>
          </a:bodyPr>
          <a:lstStyle/>
          <a:p>
            <a:pPr algn="r" rtl="1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השליטה נשארת</a:t>
            </a:r>
          </a:p>
          <a:p>
            <a:pPr algn="r" rtl="1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אצל המתכנן</a:t>
            </a:r>
          </a:p>
        </p:txBody>
      </p:sp>
      <p:cxnSp>
        <p:nvCxnSpPr>
          <p:cNvPr id="28" name="planning-callout-rule"/>
          <p:cNvCxnSpPr/>
          <p:nvPr/>
        </p:nvCxnSpPr>
        <p:spPr>
          <a:xfrm>
            <a:off x="9525000" y="3733800"/>
            <a:ext cx="2000250" cy="0"/>
          </a:xfrm>
          <a:prstGeom prst="straightConnector1">
            <a:avLst/>
          </a:prstGeom>
          <a:ln w="9525">
            <a:solidFill>
              <a:srgbClr val="35505D"/>
            </a:solidFill>
            <a:prstDash val="solid"/>
          </a:ln>
        </p:spPr>
      </p:cxnSp>
      <p:sp>
        <p:nvSpPr>
          <p:cNvPr id="11" name="planning-callout-list-dot-0">
            <a:extLst>
              <a:ext uri="{FF2B5EF4-FFF2-40B4-BE49-F238E27FC236}">
                <a16:creationId xmlns:a16="http://schemas.microsoft.com/office/drawing/2014/main" id="{969B1EFB-55B2-49DF-BE62-AE548821BC5A}"/>
              </a:ext>
            </a:extLst>
          </p:cNvPr>
          <p:cNvSpPr>
            <a:spLocks noGrp="1"/>
          </p:cNvSpPr>
          <p:nvPr/>
        </p:nvSpPr>
        <p:spPr>
          <a:xfrm>
            <a:off x="11430000" y="4076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2" name="planning-callout-list-text-0">
            <a:extLst>
              <a:ext uri="{FF2B5EF4-FFF2-40B4-BE49-F238E27FC236}">
                <a16:creationId xmlns:a16="http://schemas.microsoft.com/office/drawing/2014/main" id="{D611F8AD-C710-4655-B8E4-F095735DAB51}"/>
              </a:ext>
            </a:extLst>
          </p:cNvPr>
          <p:cNvSpPr>
            <a:spLocks noGrp="1"/>
          </p:cNvSpPr>
          <p:nvPr/>
        </p:nvSpPr>
        <p:spPr>
          <a:xfrm>
            <a:off x="9525000" y="4000500"/>
            <a:ext cx="1733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תור לא משויך לצד תורי המכונות</a:t>
            </a:r>
          </a:p>
        </p:txBody>
      </p:sp>
      <p:sp>
        <p:nvSpPr>
          <p:cNvPr id="13" name="planning-callout-list-dot-1">
            <a:extLst>
              <a:ext uri="{FF2B5EF4-FFF2-40B4-BE49-F238E27FC236}">
                <a16:creationId xmlns:a16="http://schemas.microsoft.com/office/drawing/2014/main" id="{E66398FC-110A-4B5B-A9B0-6527D1697812}"/>
              </a:ext>
            </a:extLst>
          </p:cNvPr>
          <p:cNvSpPr>
            <a:spLocks noGrp="1"/>
          </p:cNvSpPr>
          <p:nvPr/>
        </p:nvSpPr>
        <p:spPr>
          <a:xfrm>
            <a:off x="11430000" y="4705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4" name="planning-callout-list-text-1">
            <a:extLst>
              <a:ext uri="{FF2B5EF4-FFF2-40B4-BE49-F238E27FC236}">
                <a16:creationId xmlns:a16="http://schemas.microsoft.com/office/drawing/2014/main" id="{2C09EEA5-4E1A-4D6A-B1A5-B6DCC06E4904}"/>
              </a:ext>
            </a:extLst>
          </p:cNvPr>
          <p:cNvSpPr>
            <a:spLocks noGrp="1"/>
          </p:cNvSpPr>
          <p:nvPr/>
        </p:nvSpPr>
        <p:spPr>
          <a:xfrm>
            <a:off x="9525000" y="4629150"/>
            <a:ext cx="1733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גרירה ושחרור להקצאה ולתעדוף</a:t>
            </a:r>
          </a:p>
        </p:txBody>
      </p:sp>
      <p:sp>
        <p:nvSpPr>
          <p:cNvPr id="15" name="planning-callout-list-dot-2">
            <a:extLst>
              <a:ext uri="{FF2B5EF4-FFF2-40B4-BE49-F238E27FC236}">
                <a16:creationId xmlns:a16="http://schemas.microsoft.com/office/drawing/2014/main" id="{A894F05D-BDFB-4EDB-9F4F-C7683E8B7509}"/>
              </a:ext>
            </a:extLst>
          </p:cNvPr>
          <p:cNvSpPr>
            <a:spLocks noGrp="1"/>
          </p:cNvSpPr>
          <p:nvPr/>
        </p:nvSpPr>
        <p:spPr>
          <a:xfrm>
            <a:off x="11430000" y="5334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6" name="planning-callout-list-text-2">
            <a:extLst>
              <a:ext uri="{FF2B5EF4-FFF2-40B4-BE49-F238E27FC236}">
                <a16:creationId xmlns:a16="http://schemas.microsoft.com/office/drawing/2014/main" id="{EA2C29C3-D698-4E13-99C0-62E64F1445AE}"/>
              </a:ext>
            </a:extLst>
          </p:cNvPr>
          <p:cNvSpPr>
            <a:spLocks noGrp="1"/>
          </p:cNvSpPr>
          <p:nvPr/>
        </p:nvSpPr>
        <p:spPr>
          <a:xfrm>
            <a:off x="9525000" y="5257800"/>
            <a:ext cx="1733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משוב שרת ואיתותי מוכנות</a:t>
            </a:r>
          </a:p>
        </p:txBody>
      </p:sp>
      <p:sp>
        <p:nvSpPr>
          <p:cNvPr id="17" name="footer-brand-4">
            <a:extLst>
              <a:ext uri="{FF2B5EF4-FFF2-40B4-BE49-F238E27FC236}">
                <a16:creationId xmlns:a16="http://schemas.microsoft.com/office/drawing/2014/main" id="{F08C3CF4-7EA6-4436-A376-E73EA4748029}"/>
              </a:ext>
            </a:extLst>
          </p:cNvPr>
          <p:cNvSpPr>
            <a:spLocks noGrp="1"/>
          </p:cNvSpPr>
          <p:nvPr/>
        </p:nvSpPr>
        <p:spPr>
          <a:xfrm>
            <a:off x="400050" y="6438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MEIMAD  |  תכנון ייצור</a:t>
            </a:r>
          </a:p>
        </p:txBody>
      </p:sp>
      <p:sp>
        <p:nvSpPr>
          <p:cNvPr id="18" name="footer-page-4">
            <a:extLst>
              <a:ext uri="{FF2B5EF4-FFF2-40B4-BE49-F238E27FC236}">
                <a16:creationId xmlns:a16="http://schemas.microsoft.com/office/drawing/2014/main" id="{27FFE3E9-AED9-4756-8B2B-EEDDCBFE3912}"/>
              </a:ext>
            </a:extLst>
          </p:cNvPr>
          <p:cNvSpPr>
            <a:spLocks noGrp="1"/>
          </p:cNvSpPr>
          <p:nvPr/>
        </p:nvSpPr>
        <p:spPr>
          <a:xfrm>
            <a:off x="11287125" y="64389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704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kicker-5">
            <a:extLst>
              <a:ext uri="{FF2B5EF4-FFF2-40B4-BE49-F238E27FC236}">
                <a16:creationId xmlns:a16="http://schemas.microsoft.com/office/drawing/2014/main" id="{55DB9A17-E65B-4438-B7B9-5450177957C2}"/>
              </a:ext>
            </a:extLst>
          </p:cNvPr>
          <p:cNvSpPr>
            <a:spLocks noGrp="1"/>
          </p:cNvSpPr>
          <p:nvPr/>
        </p:nvSpPr>
        <p:spPr>
          <a:xfrm>
            <a:off x="7734300" y="342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75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המוצר בפעולה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2948D7E7-2F9A-4CEF-B7ED-3B0CCAFC3176}"/>
              </a:ext>
            </a:extLst>
          </p:cNvPr>
          <p:cNvSpPr>
            <a:spLocks noGrp="1"/>
          </p:cNvSpPr>
          <p:nvPr/>
        </p:nvSpPr>
        <p:spPr>
          <a:xfrm>
            <a:off x="419100" y="647700"/>
            <a:ext cx="11315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3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ציר זמן אחד חושף קיבולת, תלויות וקונפליקטים</a:t>
            </a:r>
          </a:p>
        </p:txBody>
      </p:sp>
      <p:cxnSp>
        <p:nvCxnSpPr>
          <p:cNvPr id="21" name="title-rule-5"/>
          <p:cNvCxnSpPr/>
          <p:nvPr/>
        </p:nvCxnSpPr>
        <p:spPr>
          <a:xfrm>
            <a:off x="419100" y="1438275"/>
            <a:ext cx="11334750" cy="0"/>
          </a:xfrm>
          <a:prstGeom prst="straightConnector1">
            <a:avLst/>
          </a:prstGeom>
          <a:ln w="9525">
            <a:solidFill>
              <a:srgbClr val="B8C2C8"/>
            </a:solidFill>
            <a:prstDash val="solid"/>
          </a:ln>
        </p:spPr>
      </p:cxnSp>
      <p:sp>
        <p:nvSpPr>
          <p:cNvPr id="4" name="timeline-lead">
            <a:extLst>
              <a:ext uri="{FF2B5EF4-FFF2-40B4-BE49-F238E27FC236}">
                <a16:creationId xmlns:a16="http://schemas.microsoft.com/office/drawing/2014/main" id="{080922A1-1245-45D4-A23E-FCC535683042}"/>
              </a:ext>
            </a:extLst>
          </p:cNvPr>
          <p:cNvSpPr>
            <a:spLocks noGrp="1"/>
          </p:cNvSpPr>
          <p:nvPr/>
        </p:nvSpPr>
        <p:spPr>
          <a:xfrm>
            <a:off x="2857500" y="1562100"/>
            <a:ext cx="887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התחזית לקריאה בלבד מחברת את תורי המכונות ליומנים, השבתות, כיוון, QA ותלויות בין פעולות.</a:t>
            </a:r>
          </a:p>
        </p:txBody>
      </p:sp>
      <p:sp>
        <p:nvSpPr>
          <p:cNvPr id="5" name="timeline-frame">
            <a:extLst>
              <a:ext uri="{FF2B5EF4-FFF2-40B4-BE49-F238E27FC236}">
                <a16:creationId xmlns:a16="http://schemas.microsoft.com/office/drawing/2014/main" id="{91057BA8-51C0-4B2A-B8B7-E13E4ACAE137}"/>
              </a:ext>
            </a:extLst>
          </p:cNvPr>
          <p:cNvSpPr>
            <a:spLocks noGrp="1"/>
          </p:cNvSpPr>
          <p:nvPr/>
        </p:nvSpPr>
        <p:spPr>
          <a:xfrm>
            <a:off x="361950" y="1962150"/>
            <a:ext cx="8705850" cy="4400550"/>
          </a:xfrm>
          <a:prstGeom prst="roundRect">
            <a:avLst>
              <a:gd name="adj" fmla="val 2165"/>
            </a:avLst>
          </a:prstGeom>
          <a:solidFill>
            <a:srgbClr val="F4F7F8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5675" y="2019300"/>
            <a:ext cx="7958400" cy="4286250"/>
          </a:xfrm>
          <a:prstGeom prst="rect">
            <a:avLst/>
          </a:prstGeom>
        </p:spPr>
      </p:pic>
      <p:sp>
        <p:nvSpPr>
          <p:cNvPr id="7" name="timeline-callout">
            <a:extLst>
              <a:ext uri="{FF2B5EF4-FFF2-40B4-BE49-F238E27FC236}">
                <a16:creationId xmlns:a16="http://schemas.microsoft.com/office/drawing/2014/main" id="{BF611A38-80D4-449B-893C-7EC5C4EBCA7E}"/>
              </a:ext>
            </a:extLst>
          </p:cNvPr>
          <p:cNvSpPr>
            <a:spLocks noGrp="1"/>
          </p:cNvSpPr>
          <p:nvPr/>
        </p:nvSpPr>
        <p:spPr>
          <a:xfrm>
            <a:off x="9277350" y="1962150"/>
            <a:ext cx="2495550" cy="4400550"/>
          </a:xfrm>
          <a:prstGeom prst="roundRect">
            <a:avLst>
              <a:gd name="adj" fmla="val 3817"/>
            </a:avLst>
          </a:prstGeom>
          <a:solidFill>
            <a:srgbClr val="DDF5F4"/>
          </a:solidFill>
          <a:ln w="9525">
            <a:solidFill>
              <a:srgbClr val="2EC4C7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8" name="timeline-callout-k">
            <a:extLst>
              <a:ext uri="{FF2B5EF4-FFF2-40B4-BE49-F238E27FC236}">
                <a16:creationId xmlns:a16="http://schemas.microsoft.com/office/drawing/2014/main" id="{41928489-8580-4461-816B-6B091FC5F4A1}"/>
              </a:ext>
            </a:extLst>
          </p:cNvPr>
          <p:cNvSpPr>
            <a:spLocks noGrp="1"/>
          </p:cNvSpPr>
          <p:nvPr/>
        </p:nvSpPr>
        <p:spPr>
          <a:xfrm>
            <a:off x="9525000" y="22098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00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sp>
        <p:nvSpPr>
          <p:cNvPr id="9" name="timeline-callout-t">
            <a:extLst>
              <a:ext uri="{FF2B5EF4-FFF2-40B4-BE49-F238E27FC236}">
                <a16:creationId xmlns:a16="http://schemas.microsoft.com/office/drawing/2014/main" id="{9030E72E-A64B-44EF-A345-DE799AF1FDF9}"/>
              </a:ext>
            </a:extLst>
          </p:cNvPr>
          <p:cNvSpPr>
            <a:spLocks noGrp="1"/>
          </p:cNvSpPr>
          <p:nvPr/>
        </p:nvSpPr>
        <p:spPr>
          <a:xfrm>
            <a:off x="9525000" y="2647950"/>
            <a:ext cx="2000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044" lnSpcReduction="20000"/>
          </a:bodyPr>
          <a:lstStyle/>
          <a:p>
            <a:pPr algn="r" rtl="1">
              <a:defRPr sz="2175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ההשפעה של כל שינוי</a:t>
            </a:r>
          </a:p>
          <a:p>
            <a:pPr algn="r" rtl="1">
              <a:defRPr sz="2175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נראית מיד</a:t>
            </a:r>
          </a:p>
        </p:txBody>
      </p:sp>
      <p:cxnSp>
        <p:nvCxnSpPr>
          <p:cNvPr id="28" name="timeline-callout-rule"/>
          <p:cNvCxnSpPr/>
          <p:nvPr/>
        </p:nvCxnSpPr>
        <p:spPr>
          <a:xfrm>
            <a:off x="9525000" y="3733800"/>
            <a:ext cx="2000250" cy="0"/>
          </a:xfrm>
          <a:prstGeom prst="straightConnector1">
            <a:avLst/>
          </a:prstGeom>
          <a:ln w="9525">
            <a:solidFill>
              <a:srgbClr val="A6DAD9"/>
            </a:solidFill>
            <a:prstDash val="solid"/>
          </a:ln>
        </p:spPr>
      </p:cxnSp>
      <p:sp>
        <p:nvSpPr>
          <p:cNvPr id="11" name="timeline-callout-list-dot-0">
            <a:extLst>
              <a:ext uri="{FF2B5EF4-FFF2-40B4-BE49-F238E27FC236}">
                <a16:creationId xmlns:a16="http://schemas.microsoft.com/office/drawing/2014/main" id="{5A9E1DF7-F375-4211-BD30-AB566F72DA16}"/>
              </a:ext>
            </a:extLst>
          </p:cNvPr>
          <p:cNvSpPr>
            <a:spLocks noGrp="1"/>
          </p:cNvSpPr>
          <p:nvPr/>
        </p:nvSpPr>
        <p:spPr>
          <a:xfrm>
            <a:off x="11430000" y="4076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2" name="timeline-callout-list-text-0">
            <a:extLst>
              <a:ext uri="{FF2B5EF4-FFF2-40B4-BE49-F238E27FC236}">
                <a16:creationId xmlns:a16="http://schemas.microsoft.com/office/drawing/2014/main" id="{6A017A82-A9A8-43A4-84EA-9C8A9CD2BFAC}"/>
              </a:ext>
            </a:extLst>
          </p:cNvPr>
          <p:cNvSpPr>
            <a:spLocks noGrp="1"/>
          </p:cNvSpPr>
          <p:nvPr/>
        </p:nvSpPr>
        <p:spPr>
          <a:xfrm>
            <a:off x="9525000" y="4000500"/>
            <a:ext cx="1733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מקטעי ייצור, כיוון ו־QA</a:t>
            </a:r>
          </a:p>
        </p:txBody>
      </p:sp>
      <p:sp>
        <p:nvSpPr>
          <p:cNvPr id="13" name="timeline-callout-list-dot-1">
            <a:extLst>
              <a:ext uri="{FF2B5EF4-FFF2-40B4-BE49-F238E27FC236}">
                <a16:creationId xmlns:a16="http://schemas.microsoft.com/office/drawing/2014/main" id="{4009EB4E-DA7D-439A-AD9B-5599897F2B6F}"/>
              </a:ext>
            </a:extLst>
          </p:cNvPr>
          <p:cNvSpPr>
            <a:spLocks noGrp="1"/>
          </p:cNvSpPr>
          <p:nvPr/>
        </p:nvSpPr>
        <p:spPr>
          <a:xfrm>
            <a:off x="11430000" y="4705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4" name="timeline-callout-list-text-1">
            <a:extLst>
              <a:ext uri="{FF2B5EF4-FFF2-40B4-BE49-F238E27FC236}">
                <a16:creationId xmlns:a16="http://schemas.microsoft.com/office/drawing/2014/main" id="{A9349CAE-A336-4652-9CAA-09BCA3220CD9}"/>
              </a:ext>
            </a:extLst>
          </p:cNvPr>
          <p:cNvSpPr>
            <a:spLocks noGrp="1"/>
          </p:cNvSpPr>
          <p:nvPr/>
        </p:nvSpPr>
        <p:spPr>
          <a:xfrm>
            <a:off x="9525000" y="4629150"/>
            <a:ext cx="1733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חלונות לא־עובדים והשבתות</a:t>
            </a:r>
          </a:p>
        </p:txBody>
      </p:sp>
      <p:sp>
        <p:nvSpPr>
          <p:cNvPr id="15" name="timeline-callout-list-dot-2">
            <a:extLst>
              <a:ext uri="{FF2B5EF4-FFF2-40B4-BE49-F238E27FC236}">
                <a16:creationId xmlns:a16="http://schemas.microsoft.com/office/drawing/2014/main" id="{B8FA2A42-E051-44E5-BDC6-17E176549222}"/>
              </a:ext>
            </a:extLst>
          </p:cNvPr>
          <p:cNvSpPr>
            <a:spLocks noGrp="1"/>
          </p:cNvSpPr>
          <p:nvPr/>
        </p:nvSpPr>
        <p:spPr>
          <a:xfrm>
            <a:off x="11430000" y="5334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6" name="timeline-callout-list-text-2">
            <a:extLst>
              <a:ext uri="{FF2B5EF4-FFF2-40B4-BE49-F238E27FC236}">
                <a16:creationId xmlns:a16="http://schemas.microsoft.com/office/drawing/2014/main" id="{39EF8EF2-3CC3-4CE3-9B40-52101DF8E884}"/>
              </a:ext>
            </a:extLst>
          </p:cNvPr>
          <p:cNvSpPr>
            <a:spLocks noGrp="1"/>
          </p:cNvSpPr>
          <p:nvPr/>
        </p:nvSpPr>
        <p:spPr>
          <a:xfrm>
            <a:off x="9525000" y="5257800"/>
            <a:ext cx="1733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פאנל קונפליקטים ותלויות נבחרות</a:t>
            </a:r>
          </a:p>
        </p:txBody>
      </p:sp>
      <p:sp>
        <p:nvSpPr>
          <p:cNvPr id="17" name="footer-brand-5">
            <a:extLst>
              <a:ext uri="{FF2B5EF4-FFF2-40B4-BE49-F238E27FC236}">
                <a16:creationId xmlns:a16="http://schemas.microsoft.com/office/drawing/2014/main" id="{5420ACF2-4827-4B11-B18B-C1E9F0A73019}"/>
              </a:ext>
            </a:extLst>
          </p:cNvPr>
          <p:cNvSpPr>
            <a:spLocks noGrp="1"/>
          </p:cNvSpPr>
          <p:nvPr/>
        </p:nvSpPr>
        <p:spPr>
          <a:xfrm>
            <a:off x="400050" y="6438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MEIMAD  |  תכנון ייצור</a:t>
            </a:r>
          </a:p>
        </p:txBody>
      </p:sp>
      <p:sp>
        <p:nvSpPr>
          <p:cNvPr id="18" name="footer-page-5">
            <a:extLst>
              <a:ext uri="{FF2B5EF4-FFF2-40B4-BE49-F238E27FC236}">
                <a16:creationId xmlns:a16="http://schemas.microsoft.com/office/drawing/2014/main" id="{4DF9DD92-FF99-4A4A-B3E4-03994CF64108}"/>
              </a:ext>
            </a:extLst>
          </p:cNvPr>
          <p:cNvSpPr>
            <a:spLocks noGrp="1"/>
          </p:cNvSpPr>
          <p:nvPr/>
        </p:nvSpPr>
        <p:spPr>
          <a:xfrm>
            <a:off x="11287125" y="64389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6311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-6">
            <a:extLst>
              <a:ext uri="{FF2B5EF4-FFF2-40B4-BE49-F238E27FC236}">
                <a16:creationId xmlns:a16="http://schemas.microsoft.com/office/drawing/2014/main" id="{BDEB31F1-3A9D-47E3-8E29-5BF77828C4A4}"/>
              </a:ext>
            </a:extLst>
          </p:cNvPr>
          <p:cNvSpPr>
            <a:spLocks noGrp="1"/>
          </p:cNvSpPr>
          <p:nvPr/>
        </p:nvSpPr>
        <p:spPr>
          <a:xfrm>
            <a:off x="7734300" y="342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75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המוצר בפעולה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61860CE5-AC36-4DDA-992A-7752DBE791EC}"/>
              </a:ext>
            </a:extLst>
          </p:cNvPr>
          <p:cNvSpPr>
            <a:spLocks noGrp="1"/>
          </p:cNvSpPr>
          <p:nvPr/>
        </p:nvSpPr>
        <p:spPr>
          <a:xfrm>
            <a:off x="419100" y="647700"/>
            <a:ext cx="11315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3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מרחב ה־Case מרכז את המוצר, המסלול והביקוש</a:t>
            </a:r>
          </a:p>
        </p:txBody>
      </p:sp>
      <p:cxnSp>
        <p:nvCxnSpPr>
          <p:cNvPr id="17" name="title-rule-6"/>
          <p:cNvCxnSpPr/>
          <p:nvPr/>
        </p:nvCxnSpPr>
        <p:spPr>
          <a:xfrm>
            <a:off x="419100" y="1438275"/>
            <a:ext cx="11334750" cy="0"/>
          </a:xfrm>
          <a:prstGeom prst="straightConnector1">
            <a:avLst/>
          </a:prstGeom>
          <a:ln w="9525">
            <a:solidFill>
              <a:srgbClr val="B8C2C8"/>
            </a:solidFill>
            <a:prstDash val="solid"/>
          </a:ln>
        </p:spPr>
      </p:cxnSp>
      <p:sp>
        <p:nvSpPr>
          <p:cNvPr id="4" name="case-lead">
            <a:extLst>
              <a:ext uri="{FF2B5EF4-FFF2-40B4-BE49-F238E27FC236}">
                <a16:creationId xmlns:a16="http://schemas.microsoft.com/office/drawing/2014/main" id="{F33496C4-C5B6-4198-ACD3-4792D120E6FF}"/>
              </a:ext>
            </a:extLst>
          </p:cNvPr>
          <p:cNvSpPr>
            <a:spLocks noGrp="1"/>
          </p:cNvSpPr>
          <p:nvPr/>
        </p:nvSpPr>
        <p:spPr>
          <a:xfrm>
            <a:off x="2495550" y="1562100"/>
            <a:ext cx="923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המתכנן עובד מול Part Master אחד: מודל STEP, פעולות, רכיבים, הזמנות ומנות ייצור נשארים באותו הקשר.</a:t>
            </a:r>
          </a:p>
        </p:txBody>
      </p:sp>
      <p:sp>
        <p:nvSpPr>
          <p:cNvPr id="5" name="case-main-frame">
            <a:extLst>
              <a:ext uri="{FF2B5EF4-FFF2-40B4-BE49-F238E27FC236}">
                <a16:creationId xmlns:a16="http://schemas.microsoft.com/office/drawing/2014/main" id="{8A33FFC8-99D4-4091-9E50-7E516BA74623}"/>
              </a:ext>
            </a:extLst>
          </p:cNvPr>
          <p:cNvSpPr>
            <a:spLocks noGrp="1"/>
          </p:cNvSpPr>
          <p:nvPr/>
        </p:nvSpPr>
        <p:spPr>
          <a:xfrm>
            <a:off x="361950" y="1962150"/>
            <a:ext cx="8172450" cy="43815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906" y="2019300"/>
            <a:ext cx="7942538" cy="4267200"/>
          </a:xfrm>
          <a:prstGeom prst="rect">
            <a:avLst/>
          </a:prstGeom>
        </p:spPr>
      </p:pic>
      <p:sp>
        <p:nvSpPr>
          <p:cNvPr id="7" name="case-side">
            <a:extLst>
              <a:ext uri="{FF2B5EF4-FFF2-40B4-BE49-F238E27FC236}">
                <a16:creationId xmlns:a16="http://schemas.microsoft.com/office/drawing/2014/main" id="{FFB121AC-EE79-4AEB-ACB2-E9660A6B82EA}"/>
              </a:ext>
            </a:extLst>
          </p:cNvPr>
          <p:cNvSpPr>
            <a:spLocks noGrp="1"/>
          </p:cNvSpPr>
          <p:nvPr/>
        </p:nvSpPr>
        <p:spPr>
          <a:xfrm>
            <a:off x="8743950" y="1962150"/>
            <a:ext cx="3028950" cy="4381500"/>
          </a:xfrm>
          <a:prstGeom prst="roundRect">
            <a:avLst>
              <a:gd name="adj" fmla="val 3145"/>
            </a:avLst>
          </a:prstGeom>
          <a:solidFill>
            <a:srgbClr val="FFFFFF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8" name="case-side-k">
            <a:extLst>
              <a:ext uri="{FF2B5EF4-FFF2-40B4-BE49-F238E27FC236}">
                <a16:creationId xmlns:a16="http://schemas.microsoft.com/office/drawing/2014/main" id="{AA424C3A-E2A6-4C81-BF88-860746734007}"/>
              </a:ext>
            </a:extLst>
          </p:cNvPr>
          <p:cNvSpPr>
            <a:spLocks noGrp="1"/>
          </p:cNvSpPr>
          <p:nvPr/>
        </p:nvSpPr>
        <p:spPr>
          <a:xfrm>
            <a:off x="8991600" y="2171700"/>
            <a:ext cx="2533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00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9" name="case-side-t">
            <a:extLst>
              <a:ext uri="{FF2B5EF4-FFF2-40B4-BE49-F238E27FC236}">
                <a16:creationId xmlns:a16="http://schemas.microsoft.com/office/drawing/2014/main" id="{CC7F9680-6E4C-45C0-A6FC-5FCB1B60B460}"/>
              </a:ext>
            </a:extLst>
          </p:cNvPr>
          <p:cNvSpPr>
            <a:spLocks noGrp="1"/>
          </p:cNvSpPr>
          <p:nvPr/>
        </p:nvSpPr>
        <p:spPr>
          <a:xfrm>
            <a:off x="8991600" y="2457450"/>
            <a:ext cx="2533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667"/>
          </a:bodyPr>
          <a:lstStyle/>
          <a:p>
            <a:pPr algn="r" rtl="1">
              <a:defRPr sz="1875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הביקוש נשאר צמוד</a:t>
            </a:r>
          </a:p>
          <a:p>
            <a:pPr algn="r" rtl="1">
              <a:defRPr sz="1875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להגדרת החלק</a:t>
            </a:r>
          </a:p>
        </p:txBody>
      </p:sp>
      <p:sp>
        <p:nvSpPr>
          <p:cNvPr id="10" name="orders-frame">
            <a:extLst>
              <a:ext uri="{FF2B5EF4-FFF2-40B4-BE49-F238E27FC236}">
                <a16:creationId xmlns:a16="http://schemas.microsoft.com/office/drawing/2014/main" id="{74DE542B-D222-49CE-A90D-EDD8B35F76B3}"/>
              </a:ext>
            </a:extLst>
          </p:cNvPr>
          <p:cNvSpPr>
            <a:spLocks noGrp="1"/>
          </p:cNvSpPr>
          <p:nvPr/>
        </p:nvSpPr>
        <p:spPr>
          <a:xfrm>
            <a:off x="8934450" y="3162300"/>
            <a:ext cx="2647950" cy="142875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004076" y="3200400"/>
            <a:ext cx="2508699" cy="1352550"/>
          </a:xfrm>
          <a:prstGeom prst="rect">
            <a:avLst/>
          </a:prstGeom>
        </p:spPr>
      </p:pic>
      <p:sp>
        <p:nvSpPr>
          <p:cNvPr id="12" name="case-side-desc">
            <a:extLst>
              <a:ext uri="{FF2B5EF4-FFF2-40B4-BE49-F238E27FC236}">
                <a16:creationId xmlns:a16="http://schemas.microsoft.com/office/drawing/2014/main" id="{651F1A3E-54E8-44F3-87BF-3A7F5CC3DE50}"/>
              </a:ext>
            </a:extLst>
          </p:cNvPr>
          <p:cNvSpPr>
            <a:spLocks noGrp="1"/>
          </p:cNvSpPr>
          <p:nvPr/>
        </p:nvSpPr>
        <p:spPr>
          <a:xfrm>
            <a:off x="8991600" y="4876800"/>
            <a:ext cx="25336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2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כמות, מועד אספקה ומצב ההזמנה מקושרים ל־Case. מנות הייצור נוצרות מהכמות שנותרה — בלי לשכפל את הביקוש.</a:t>
            </a:r>
          </a:p>
        </p:txBody>
      </p:sp>
      <p:sp>
        <p:nvSpPr>
          <p:cNvPr id="13" name="footer-brand-6">
            <a:extLst>
              <a:ext uri="{FF2B5EF4-FFF2-40B4-BE49-F238E27FC236}">
                <a16:creationId xmlns:a16="http://schemas.microsoft.com/office/drawing/2014/main" id="{190FD89B-0835-43AB-9E4C-EC89C6153C4A}"/>
              </a:ext>
            </a:extLst>
          </p:cNvPr>
          <p:cNvSpPr>
            <a:spLocks noGrp="1"/>
          </p:cNvSpPr>
          <p:nvPr/>
        </p:nvSpPr>
        <p:spPr>
          <a:xfrm>
            <a:off x="400050" y="6438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MEIMAD  |  תכנון ייצור</a:t>
            </a:r>
          </a:p>
        </p:txBody>
      </p:sp>
      <p:sp>
        <p:nvSpPr>
          <p:cNvPr id="14" name="footer-page-6">
            <a:extLst>
              <a:ext uri="{FF2B5EF4-FFF2-40B4-BE49-F238E27FC236}">
                <a16:creationId xmlns:a16="http://schemas.microsoft.com/office/drawing/2014/main" id="{56254784-4225-4729-B476-02EC394C9EA2}"/>
              </a:ext>
            </a:extLst>
          </p:cNvPr>
          <p:cNvSpPr>
            <a:spLocks noGrp="1"/>
          </p:cNvSpPr>
          <p:nvPr/>
        </p:nvSpPr>
        <p:spPr>
          <a:xfrm>
            <a:off x="11287125" y="64389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63964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-7">
            <a:extLst>
              <a:ext uri="{FF2B5EF4-FFF2-40B4-BE49-F238E27FC236}">
                <a16:creationId xmlns:a16="http://schemas.microsoft.com/office/drawing/2014/main" id="{149B6FDC-0DF3-413D-9063-37F1595753F0}"/>
              </a:ext>
            </a:extLst>
          </p:cNvPr>
          <p:cNvSpPr>
            <a:spLocks noGrp="1"/>
          </p:cNvSpPr>
          <p:nvPr/>
        </p:nvSpPr>
        <p:spPr>
          <a:xfrm>
            <a:off x="7734300" y="342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75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המוצר בפעולה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DC032A52-F4CC-46E3-84DD-41DD48D4AAD6}"/>
              </a:ext>
            </a:extLst>
          </p:cNvPr>
          <p:cNvSpPr>
            <a:spLocks noGrp="1"/>
          </p:cNvSpPr>
          <p:nvPr/>
        </p:nvSpPr>
        <p:spPr>
          <a:xfrm>
            <a:off x="419100" y="647700"/>
            <a:ext cx="11315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3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שחרור G-code ומוכנות ייצור נבדקים מול מכונת היעד</a:t>
            </a:r>
          </a:p>
        </p:txBody>
      </p:sp>
      <p:cxnSp>
        <p:nvCxnSpPr>
          <p:cNvPr id="17" name="title-rule-7"/>
          <p:cNvCxnSpPr/>
          <p:nvPr/>
        </p:nvCxnSpPr>
        <p:spPr>
          <a:xfrm>
            <a:off x="419100" y="1438275"/>
            <a:ext cx="11334750" cy="0"/>
          </a:xfrm>
          <a:prstGeom prst="straightConnector1">
            <a:avLst/>
          </a:prstGeom>
          <a:ln w="9525">
            <a:solidFill>
              <a:srgbClr val="B8C2C8"/>
            </a:solidFill>
            <a:prstDash val="solid"/>
          </a:ln>
        </p:spPr>
      </p:cxnSp>
      <p:sp>
        <p:nvSpPr>
          <p:cNvPr id="4" name="gcode-lead">
            <a:extLst>
              <a:ext uri="{FF2B5EF4-FFF2-40B4-BE49-F238E27FC236}">
                <a16:creationId xmlns:a16="http://schemas.microsoft.com/office/drawing/2014/main" id="{9F338A16-895F-417E-BDCF-0491937FB97A}"/>
              </a:ext>
            </a:extLst>
          </p:cNvPr>
          <p:cNvSpPr>
            <a:spLocks noGrp="1"/>
          </p:cNvSpPr>
          <p:nvPr/>
        </p:nvSpPr>
        <p:spPr>
          <a:xfrm>
            <a:off x="1695450" y="1562100"/>
            <a:ext cx="1003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42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המסלול הטכנולוגי נשאר שימושי מחדש; קובץ הייצור, הפוסטפרוססור, הכלים והאישורים מנוהלים לפי המכונה והרוויזיה הפעילה.</a:t>
            </a:r>
          </a:p>
        </p:txBody>
      </p:sp>
      <p:sp>
        <p:nvSpPr>
          <p:cNvPr id="5" name="gcode-main-frame">
            <a:extLst>
              <a:ext uri="{FF2B5EF4-FFF2-40B4-BE49-F238E27FC236}">
                <a16:creationId xmlns:a16="http://schemas.microsoft.com/office/drawing/2014/main" id="{30693980-A919-44D6-9E86-46C4B5DAA9FD}"/>
              </a:ext>
            </a:extLst>
          </p:cNvPr>
          <p:cNvSpPr>
            <a:spLocks noGrp="1"/>
          </p:cNvSpPr>
          <p:nvPr/>
        </p:nvSpPr>
        <p:spPr>
          <a:xfrm>
            <a:off x="361950" y="2000250"/>
            <a:ext cx="8229600" cy="4343400"/>
          </a:xfrm>
          <a:prstGeom prst="roundRect">
            <a:avLst>
              <a:gd name="adj" fmla="val 2193"/>
            </a:avLst>
          </a:prstGeom>
          <a:solidFill>
            <a:srgbClr val="F4F7F8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8559" y="2057400"/>
            <a:ext cx="7856382" cy="4229100"/>
          </a:xfrm>
          <a:prstGeom prst="rect">
            <a:avLst/>
          </a:prstGeom>
        </p:spPr>
      </p:pic>
      <p:sp>
        <p:nvSpPr>
          <p:cNvPr id="7" name="readiness-side">
            <a:extLst>
              <a:ext uri="{FF2B5EF4-FFF2-40B4-BE49-F238E27FC236}">
                <a16:creationId xmlns:a16="http://schemas.microsoft.com/office/drawing/2014/main" id="{25A7F8F6-F51A-47AC-85D8-D70E6516B6A5}"/>
              </a:ext>
            </a:extLst>
          </p:cNvPr>
          <p:cNvSpPr>
            <a:spLocks noGrp="1"/>
          </p:cNvSpPr>
          <p:nvPr/>
        </p:nvSpPr>
        <p:spPr>
          <a:xfrm>
            <a:off x="8801100" y="2000250"/>
            <a:ext cx="2971800" cy="4343400"/>
          </a:xfrm>
          <a:prstGeom prst="roundRect">
            <a:avLst>
              <a:gd name="adj" fmla="val 3205"/>
            </a:avLst>
          </a:prstGeom>
          <a:solidFill>
            <a:srgbClr val="071722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8" name="readiness-side-k">
            <a:extLst>
              <a:ext uri="{FF2B5EF4-FFF2-40B4-BE49-F238E27FC236}">
                <a16:creationId xmlns:a16="http://schemas.microsoft.com/office/drawing/2014/main" id="{712D9BCA-BAED-45E4-B512-DB99982EB223}"/>
              </a:ext>
            </a:extLst>
          </p:cNvPr>
          <p:cNvSpPr>
            <a:spLocks noGrp="1"/>
          </p:cNvSpPr>
          <p:nvPr/>
        </p:nvSpPr>
        <p:spPr>
          <a:xfrm>
            <a:off x="9010650" y="2209800"/>
            <a:ext cx="2552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PRODUCTION READINESS</a:t>
            </a:r>
          </a:p>
        </p:txBody>
      </p:sp>
      <p:sp>
        <p:nvSpPr>
          <p:cNvPr id="9" name="readiness-frame">
            <a:extLst>
              <a:ext uri="{FF2B5EF4-FFF2-40B4-BE49-F238E27FC236}">
                <a16:creationId xmlns:a16="http://schemas.microsoft.com/office/drawing/2014/main" id="{DF25EF56-3EAE-4749-A6E3-119BD32FEF40}"/>
              </a:ext>
            </a:extLst>
          </p:cNvPr>
          <p:cNvSpPr>
            <a:spLocks noGrp="1"/>
          </p:cNvSpPr>
          <p:nvPr/>
        </p:nvSpPr>
        <p:spPr>
          <a:xfrm>
            <a:off x="8991600" y="2552700"/>
            <a:ext cx="2590800" cy="1933575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041740" y="2590800"/>
            <a:ext cx="2490521" cy="1857375"/>
          </a:xfrm>
          <a:prstGeom prst="rect">
            <a:avLst/>
          </a:prstGeom>
        </p:spPr>
      </p:pic>
      <p:sp>
        <p:nvSpPr>
          <p:cNvPr id="11" name="readiness-side-t">
            <a:extLst>
              <a:ext uri="{FF2B5EF4-FFF2-40B4-BE49-F238E27FC236}">
                <a16:creationId xmlns:a16="http://schemas.microsoft.com/office/drawing/2014/main" id="{4027B62C-71ED-4365-8ACB-6EDEBA00D6B7}"/>
              </a:ext>
            </a:extLst>
          </p:cNvPr>
          <p:cNvSpPr>
            <a:spLocks noGrp="1"/>
          </p:cNvSpPr>
          <p:nvPr/>
        </p:nvSpPr>
        <p:spPr>
          <a:xfrm>
            <a:off x="9010650" y="4705350"/>
            <a:ext cx="2552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000" lnSpcReduction="10000"/>
          </a:bodyPr>
          <a:lstStyle/>
          <a:p>
            <a:pPr algn="r" rtl="1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מוכן פירושו</a:t>
            </a:r>
          </a:p>
          <a:p>
            <a:pPr algn="r" rtl="1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שיש ראיות</a:t>
            </a:r>
          </a:p>
        </p:txBody>
      </p:sp>
      <p:sp>
        <p:nvSpPr>
          <p:cNvPr id="12" name="readiness-side-desc">
            <a:extLst>
              <a:ext uri="{FF2B5EF4-FFF2-40B4-BE49-F238E27FC236}">
                <a16:creationId xmlns:a16="http://schemas.microsoft.com/office/drawing/2014/main" id="{8EA34A55-5C5B-47C7-B847-565E8C9E98B8}"/>
              </a:ext>
            </a:extLst>
          </p:cNvPr>
          <p:cNvSpPr>
            <a:spLocks noGrp="1"/>
          </p:cNvSpPr>
          <p:nvPr/>
        </p:nvSpPr>
        <p:spPr>
          <a:xfrm>
            <a:off x="9010650" y="5353050"/>
            <a:ext cx="2552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200" b="0">
                <a:solidFill>
                  <a:srgbClr val="CAD8D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AD8DE"/>
                </a:solidFill>
                <a:latin typeface="Arial"/>
                <a:ea typeface="Arial"/>
                <a:cs typeface="Arial"/>
              </a:rPr>
              <a:t>G-code • טבלת כלים • תאימות מכונה ופוסט • קיבולת כלים • Offset • חומר</a:t>
            </a:r>
          </a:p>
        </p:txBody>
      </p:sp>
      <p:sp>
        <p:nvSpPr>
          <p:cNvPr id="13" name="footer-brand-7">
            <a:extLst>
              <a:ext uri="{FF2B5EF4-FFF2-40B4-BE49-F238E27FC236}">
                <a16:creationId xmlns:a16="http://schemas.microsoft.com/office/drawing/2014/main" id="{1F271D9D-050A-4E77-B484-6F747DFAF8FF}"/>
              </a:ext>
            </a:extLst>
          </p:cNvPr>
          <p:cNvSpPr>
            <a:spLocks noGrp="1"/>
          </p:cNvSpPr>
          <p:nvPr/>
        </p:nvSpPr>
        <p:spPr>
          <a:xfrm>
            <a:off x="400050" y="6438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MEIMAD  |  תכנון ייצור</a:t>
            </a:r>
          </a:p>
        </p:txBody>
      </p:sp>
      <p:sp>
        <p:nvSpPr>
          <p:cNvPr id="14" name="footer-page-7">
            <a:extLst>
              <a:ext uri="{FF2B5EF4-FFF2-40B4-BE49-F238E27FC236}">
                <a16:creationId xmlns:a16="http://schemas.microsoft.com/office/drawing/2014/main" id="{31506A0A-E1C0-4702-886A-7B76151CB0D0}"/>
              </a:ext>
            </a:extLst>
          </p:cNvPr>
          <p:cNvSpPr>
            <a:spLocks noGrp="1"/>
          </p:cNvSpPr>
          <p:nvPr/>
        </p:nvSpPr>
        <p:spPr>
          <a:xfrm>
            <a:off x="11287125" y="64389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0713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-8">
            <a:extLst>
              <a:ext uri="{FF2B5EF4-FFF2-40B4-BE49-F238E27FC236}">
                <a16:creationId xmlns:a16="http://schemas.microsoft.com/office/drawing/2014/main" id="{79C44169-7E97-4937-820E-798A6BC35B25}"/>
              </a:ext>
            </a:extLst>
          </p:cNvPr>
          <p:cNvSpPr>
            <a:spLocks noGrp="1"/>
          </p:cNvSpPr>
          <p:nvPr/>
        </p:nvSpPr>
        <p:spPr>
          <a:xfrm>
            <a:off x="7734300" y="342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75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אינטגרציה מבוקרת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A4306295-1345-428D-BB93-77DD5B12A705}"/>
              </a:ext>
            </a:extLst>
          </p:cNvPr>
          <p:cNvSpPr>
            <a:spLocks noGrp="1"/>
          </p:cNvSpPr>
          <p:nvPr/>
        </p:nvSpPr>
        <p:spPr>
          <a:xfrm>
            <a:off x="419100" y="647700"/>
            <a:ext cx="11315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3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חיבור Kitaron מכניס ביקוש בלי לפתוח נתיב כתיבה ל־ERP</a:t>
            </a:r>
          </a:p>
        </p:txBody>
      </p:sp>
      <p:cxnSp>
        <p:nvCxnSpPr>
          <p:cNvPr id="23" name="title-rule-8"/>
          <p:cNvCxnSpPr/>
          <p:nvPr/>
        </p:nvCxnSpPr>
        <p:spPr>
          <a:xfrm>
            <a:off x="419100" y="1438275"/>
            <a:ext cx="11334750" cy="0"/>
          </a:xfrm>
          <a:prstGeom prst="straightConnector1">
            <a:avLst/>
          </a:prstGeom>
          <a:ln w="9525">
            <a:solidFill>
              <a:srgbClr val="B8C2C8"/>
            </a:solidFill>
            <a:prstDash val="solid"/>
          </a:ln>
        </p:spPr>
      </p:cxnSp>
      <p:sp>
        <p:nvSpPr>
          <p:cNvPr id="4" name="kitaron-lead">
            <a:extLst>
              <a:ext uri="{FF2B5EF4-FFF2-40B4-BE49-F238E27FC236}">
                <a16:creationId xmlns:a16="http://schemas.microsoft.com/office/drawing/2014/main" id="{53D86F14-B98F-4C47-A8FF-283D2110C304}"/>
              </a:ext>
            </a:extLst>
          </p:cNvPr>
          <p:cNvSpPr>
            <a:spLocks noGrp="1"/>
          </p:cNvSpPr>
          <p:nvPr/>
        </p:nvSpPr>
        <p:spPr>
          <a:xfrm>
            <a:off x="2228850" y="1562100"/>
            <a:ext cx="9505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השרת מחזיק את פרטי החיבור והמיפוי; הסנכרון קורא מ־Kitaron ויוצר או מעדכן ישויות מקושרות ב־Meimad בלבד.</a:t>
            </a:r>
          </a:p>
        </p:txBody>
      </p:sp>
      <p:sp>
        <p:nvSpPr>
          <p:cNvPr id="5" name="kitaron-frame">
            <a:extLst>
              <a:ext uri="{FF2B5EF4-FFF2-40B4-BE49-F238E27FC236}">
                <a16:creationId xmlns:a16="http://schemas.microsoft.com/office/drawing/2014/main" id="{CF3D7D73-75A1-4ADD-87F1-2CF3B8457DC2}"/>
              </a:ext>
            </a:extLst>
          </p:cNvPr>
          <p:cNvSpPr>
            <a:spLocks noGrp="1"/>
          </p:cNvSpPr>
          <p:nvPr/>
        </p:nvSpPr>
        <p:spPr>
          <a:xfrm>
            <a:off x="361950" y="2000250"/>
            <a:ext cx="8991600" cy="4343400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1711" y="2057400"/>
            <a:ext cx="8752079" cy="4229100"/>
          </a:xfrm>
          <a:prstGeom prst="rect">
            <a:avLst/>
          </a:prstGeom>
        </p:spPr>
      </p:pic>
      <p:sp>
        <p:nvSpPr>
          <p:cNvPr id="7" name="kitaron-side">
            <a:extLst>
              <a:ext uri="{FF2B5EF4-FFF2-40B4-BE49-F238E27FC236}">
                <a16:creationId xmlns:a16="http://schemas.microsoft.com/office/drawing/2014/main" id="{BD33271E-0DAB-4BC1-9415-257FA2EC335D}"/>
              </a:ext>
            </a:extLst>
          </p:cNvPr>
          <p:cNvSpPr>
            <a:spLocks noGrp="1"/>
          </p:cNvSpPr>
          <p:nvPr/>
        </p:nvSpPr>
        <p:spPr>
          <a:xfrm>
            <a:off x="9563100" y="2000250"/>
            <a:ext cx="2209800" cy="4343400"/>
          </a:xfrm>
          <a:prstGeom prst="roundRect">
            <a:avLst>
              <a:gd name="adj" fmla="val 4310"/>
            </a:avLst>
          </a:prstGeom>
          <a:solidFill>
            <a:srgbClr val="FFF3D7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8" name="kitaron-side-k">
            <a:extLst>
              <a:ext uri="{FF2B5EF4-FFF2-40B4-BE49-F238E27FC236}">
                <a16:creationId xmlns:a16="http://schemas.microsoft.com/office/drawing/2014/main" id="{ED4C5DE4-B948-4280-8AEB-DEC302A83EF8}"/>
              </a:ext>
            </a:extLst>
          </p:cNvPr>
          <p:cNvSpPr>
            <a:spLocks noGrp="1"/>
          </p:cNvSpPr>
          <p:nvPr/>
        </p:nvSpPr>
        <p:spPr>
          <a:xfrm>
            <a:off x="9772650" y="2247900"/>
            <a:ext cx="1790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75" b="1">
                <a:solidFill>
                  <a:srgbClr val="A66A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6A00"/>
                </a:solidFill>
                <a:latin typeface="Arial"/>
                <a:ea typeface="Arial"/>
                <a:cs typeface="Arial"/>
              </a:rPr>
              <a:t>גבול חד־כיווני</a:t>
            </a:r>
          </a:p>
        </p:txBody>
      </p:sp>
      <p:sp>
        <p:nvSpPr>
          <p:cNvPr id="9" name="kitaron-side-t">
            <a:extLst>
              <a:ext uri="{FF2B5EF4-FFF2-40B4-BE49-F238E27FC236}">
                <a16:creationId xmlns:a16="http://schemas.microsoft.com/office/drawing/2014/main" id="{6C838A2F-4C8E-4FF9-BCC0-C0F48C4D6EBE}"/>
              </a:ext>
            </a:extLst>
          </p:cNvPr>
          <p:cNvSpPr>
            <a:spLocks noGrp="1"/>
          </p:cNvSpPr>
          <p:nvPr/>
        </p:nvSpPr>
        <p:spPr>
          <a:xfrm>
            <a:off x="9772650" y="2686050"/>
            <a:ext cx="1790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806"/>
          </a:bodyPr>
          <a:lstStyle/>
          <a:p>
            <a:pPr algn="r" rtl="1">
              <a:defRPr sz="195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קוראים מה־ERP.</a:t>
            </a:r>
          </a:p>
          <a:p>
            <a:pPr algn="r" rtl="1">
              <a:defRPr sz="195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לא כותבים אליו.</a:t>
            </a:r>
          </a:p>
        </p:txBody>
      </p:sp>
      <p:cxnSp>
        <p:nvCxnSpPr>
          <p:cNvPr id="30" name="kitaron-side-rule"/>
          <p:cNvCxnSpPr/>
          <p:nvPr/>
        </p:nvCxnSpPr>
        <p:spPr>
          <a:xfrm>
            <a:off x="9772650" y="3714750"/>
            <a:ext cx="1790700" cy="0"/>
          </a:xfrm>
          <a:prstGeom prst="straightConnector1">
            <a:avLst/>
          </a:prstGeom>
          <a:ln w="9525">
            <a:solidFill>
              <a:srgbClr val="E2C475"/>
            </a:solidFill>
            <a:prstDash val="solid"/>
          </a:ln>
        </p:spPr>
      </p:cxnSp>
      <p:sp>
        <p:nvSpPr>
          <p:cNvPr id="11" name="kitaron-side-list-dot-0">
            <a:extLst>
              <a:ext uri="{FF2B5EF4-FFF2-40B4-BE49-F238E27FC236}">
                <a16:creationId xmlns:a16="http://schemas.microsoft.com/office/drawing/2014/main" id="{5F1197D9-56D6-4D75-9726-FB1BEE6A2976}"/>
              </a:ext>
            </a:extLst>
          </p:cNvPr>
          <p:cNvSpPr>
            <a:spLocks noGrp="1"/>
          </p:cNvSpPr>
          <p:nvPr/>
        </p:nvSpPr>
        <p:spPr>
          <a:xfrm>
            <a:off x="11468100" y="40386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2" name="kitaron-side-list-text-0">
            <a:extLst>
              <a:ext uri="{FF2B5EF4-FFF2-40B4-BE49-F238E27FC236}">
                <a16:creationId xmlns:a16="http://schemas.microsoft.com/office/drawing/2014/main" id="{50E83DFB-70A2-41B8-96EC-49426A4761F8}"/>
              </a:ext>
            </a:extLst>
          </p:cNvPr>
          <p:cNvSpPr>
            <a:spLocks noGrp="1"/>
          </p:cNvSpPr>
          <p:nvPr/>
        </p:nvSpPr>
        <p:spPr>
          <a:xfrm>
            <a:off x="9772650" y="3962400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חיבור SQL בבעלות השרת</a:t>
            </a:r>
          </a:p>
        </p:txBody>
      </p:sp>
      <p:sp>
        <p:nvSpPr>
          <p:cNvPr id="13" name="kitaron-side-list-dot-1">
            <a:extLst>
              <a:ext uri="{FF2B5EF4-FFF2-40B4-BE49-F238E27FC236}">
                <a16:creationId xmlns:a16="http://schemas.microsoft.com/office/drawing/2014/main" id="{4637FB95-F4A3-4418-891B-78EE6181548B}"/>
              </a:ext>
            </a:extLst>
          </p:cNvPr>
          <p:cNvSpPr>
            <a:spLocks noGrp="1"/>
          </p:cNvSpPr>
          <p:nvPr/>
        </p:nvSpPr>
        <p:spPr>
          <a:xfrm>
            <a:off x="11468100" y="4552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4" name="kitaron-side-list-text-1">
            <a:extLst>
              <a:ext uri="{FF2B5EF4-FFF2-40B4-BE49-F238E27FC236}">
                <a16:creationId xmlns:a16="http://schemas.microsoft.com/office/drawing/2014/main" id="{68C639CA-8F6E-4341-890D-7A61E3C19585}"/>
              </a:ext>
            </a:extLst>
          </p:cNvPr>
          <p:cNvSpPr>
            <a:spLocks noGrp="1"/>
          </p:cNvSpPr>
          <p:nvPr/>
        </p:nvSpPr>
        <p:spPr>
          <a:xfrm>
            <a:off x="9772650" y="4476750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בדיקת עמודות ומיפוי תחום</a:t>
            </a:r>
          </a:p>
        </p:txBody>
      </p:sp>
      <p:sp>
        <p:nvSpPr>
          <p:cNvPr id="15" name="kitaron-side-list-dot-2">
            <a:extLst>
              <a:ext uri="{FF2B5EF4-FFF2-40B4-BE49-F238E27FC236}">
                <a16:creationId xmlns:a16="http://schemas.microsoft.com/office/drawing/2014/main" id="{CDADFE31-434B-4B26-A167-81C251CB6A69}"/>
              </a:ext>
            </a:extLst>
          </p:cNvPr>
          <p:cNvSpPr>
            <a:spLocks noGrp="1"/>
          </p:cNvSpPr>
          <p:nvPr/>
        </p:nvSpPr>
        <p:spPr>
          <a:xfrm>
            <a:off x="11468100" y="5067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6" name="kitaron-side-list-text-2">
            <a:extLst>
              <a:ext uri="{FF2B5EF4-FFF2-40B4-BE49-F238E27FC236}">
                <a16:creationId xmlns:a16="http://schemas.microsoft.com/office/drawing/2014/main" id="{4DDC45DC-1B08-4CC7-AD8A-1043097C4BCE}"/>
              </a:ext>
            </a:extLst>
          </p:cNvPr>
          <p:cNvSpPr>
            <a:spLocks noGrp="1"/>
          </p:cNvSpPr>
          <p:nvPr/>
        </p:nvSpPr>
        <p:spPr>
          <a:xfrm>
            <a:off x="9772650" y="4991100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סנכרון Cases, Orders ופעולות</a:t>
            </a:r>
          </a:p>
        </p:txBody>
      </p:sp>
      <p:sp>
        <p:nvSpPr>
          <p:cNvPr id="17" name="kitaron-side-list-dot-3">
            <a:extLst>
              <a:ext uri="{FF2B5EF4-FFF2-40B4-BE49-F238E27FC236}">
                <a16:creationId xmlns:a16="http://schemas.microsoft.com/office/drawing/2014/main" id="{05D747F6-42A2-4BF4-9678-0209101F2DE4}"/>
              </a:ext>
            </a:extLst>
          </p:cNvPr>
          <p:cNvSpPr>
            <a:spLocks noGrp="1"/>
          </p:cNvSpPr>
          <p:nvPr/>
        </p:nvSpPr>
        <p:spPr>
          <a:xfrm>
            <a:off x="11468100" y="55816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8" name="kitaron-side-list-text-3">
            <a:extLst>
              <a:ext uri="{FF2B5EF4-FFF2-40B4-BE49-F238E27FC236}">
                <a16:creationId xmlns:a16="http://schemas.microsoft.com/office/drawing/2014/main" id="{945A4076-8557-447C-9B11-53A82BFB86FB}"/>
              </a:ext>
            </a:extLst>
          </p:cNvPr>
          <p:cNvSpPr>
            <a:spLocks noGrp="1"/>
          </p:cNvSpPr>
          <p:nvPr/>
        </p:nvSpPr>
        <p:spPr>
          <a:xfrm>
            <a:off x="9772650" y="5505450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עצירת ייצור הופכת להזמנה מבוטלת</a:t>
            </a:r>
          </a:p>
        </p:txBody>
      </p:sp>
      <p:sp>
        <p:nvSpPr>
          <p:cNvPr id="19" name="footer-brand-8">
            <a:extLst>
              <a:ext uri="{FF2B5EF4-FFF2-40B4-BE49-F238E27FC236}">
                <a16:creationId xmlns:a16="http://schemas.microsoft.com/office/drawing/2014/main" id="{023C7CC7-9BD8-4F0F-AC21-F4B64433A557}"/>
              </a:ext>
            </a:extLst>
          </p:cNvPr>
          <p:cNvSpPr>
            <a:spLocks noGrp="1"/>
          </p:cNvSpPr>
          <p:nvPr/>
        </p:nvSpPr>
        <p:spPr>
          <a:xfrm>
            <a:off x="400050" y="6438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MEIMAD  |  תכנון ייצור</a:t>
            </a:r>
          </a:p>
        </p:txBody>
      </p:sp>
      <p:sp>
        <p:nvSpPr>
          <p:cNvPr id="20" name="footer-page-8">
            <a:extLst>
              <a:ext uri="{FF2B5EF4-FFF2-40B4-BE49-F238E27FC236}">
                <a16:creationId xmlns:a16="http://schemas.microsoft.com/office/drawing/2014/main" id="{107E9676-BBED-4B45-803C-0CB54FA58606}"/>
              </a:ext>
            </a:extLst>
          </p:cNvPr>
          <p:cNvSpPr>
            <a:spLocks noGrp="1"/>
          </p:cNvSpPr>
          <p:nvPr/>
        </p:nvSpPr>
        <p:spPr>
          <a:xfrm>
            <a:off x="11287125" y="64389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7939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kicker-9">
            <a:extLst>
              <a:ext uri="{FF2B5EF4-FFF2-40B4-BE49-F238E27FC236}">
                <a16:creationId xmlns:a16="http://schemas.microsoft.com/office/drawing/2014/main" id="{3DDB5027-0EAB-4075-AA15-F493FB2AEB54}"/>
              </a:ext>
            </a:extLst>
          </p:cNvPr>
          <p:cNvSpPr>
            <a:spLocks noGrp="1"/>
          </p:cNvSpPr>
          <p:nvPr/>
        </p:nvSpPr>
        <p:spPr>
          <a:xfrm>
            <a:off x="7734300" y="342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75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סקירת מוצר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5A27DFBC-CF90-4FD6-835D-83107AEDB1D1}"/>
              </a:ext>
            </a:extLst>
          </p:cNvPr>
          <p:cNvSpPr>
            <a:spLocks noGrp="1"/>
          </p:cNvSpPr>
          <p:nvPr/>
        </p:nvSpPr>
        <p:spPr>
          <a:xfrm>
            <a:off x="419100" y="647700"/>
            <a:ext cx="11315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300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המאגר כבר מכיל חתך אנכי עקבי של המוצר</a:t>
            </a:r>
          </a:p>
        </p:txBody>
      </p:sp>
      <p:cxnSp>
        <p:nvCxnSpPr>
          <p:cNvPr id="44" name="title-rule-9"/>
          <p:cNvCxnSpPr/>
          <p:nvPr/>
        </p:nvCxnSpPr>
        <p:spPr>
          <a:xfrm>
            <a:off x="419100" y="1438275"/>
            <a:ext cx="11334750" cy="0"/>
          </a:xfrm>
          <a:prstGeom prst="straightConnector1">
            <a:avLst/>
          </a:prstGeom>
          <a:ln w="9525">
            <a:solidFill>
              <a:srgbClr val="B8C2C8"/>
            </a:solidFill>
            <a:prstDash val="solid"/>
          </a:ln>
        </p:spPr>
      </p:cxnSp>
      <p:sp>
        <p:nvSpPr>
          <p:cNvPr id="4" name="maturity-lead">
            <a:extLst>
              <a:ext uri="{FF2B5EF4-FFF2-40B4-BE49-F238E27FC236}">
                <a16:creationId xmlns:a16="http://schemas.microsoft.com/office/drawing/2014/main" id="{B1139353-520F-41E4-A8D6-1516DEE22695}"/>
              </a:ext>
            </a:extLst>
          </p:cNvPr>
          <p:cNvSpPr>
            <a:spLocks noGrp="1"/>
          </p:cNvSpPr>
          <p:nvPr/>
        </p:nvSpPr>
        <p:spPr>
          <a:xfrm>
            <a:off x="647700" y="1685926"/>
            <a:ext cx="1095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זו הנדסת מוצר משמעותית — לא מוקאפ — אך עדיין מדובר ב־MVP לפיתוח ולא בגרסת ייצור למפעל.</a:t>
            </a:r>
          </a:p>
        </p:txBody>
      </p:sp>
      <p:sp>
        <p:nvSpPr>
          <p:cNvPr id="5" name="maturity-col-0">
            <a:extLst>
              <a:ext uri="{FF2B5EF4-FFF2-40B4-BE49-F238E27FC236}">
                <a16:creationId xmlns:a16="http://schemas.microsoft.com/office/drawing/2014/main" id="{EF0ADF13-EE36-48DC-811E-084195C571F5}"/>
              </a:ext>
            </a:extLst>
          </p:cNvPr>
          <p:cNvSpPr>
            <a:spLocks noGrp="1"/>
          </p:cNvSpPr>
          <p:nvPr/>
        </p:nvSpPr>
        <p:spPr>
          <a:xfrm>
            <a:off x="419100" y="2400300"/>
            <a:ext cx="3429000" cy="32766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6" name="maturity-head-0">
            <a:extLst>
              <a:ext uri="{FF2B5EF4-FFF2-40B4-BE49-F238E27FC236}">
                <a16:creationId xmlns:a16="http://schemas.microsoft.com/office/drawing/2014/main" id="{961DAB33-9CA2-4AED-ACC0-AAFA6C72A10F}"/>
              </a:ext>
            </a:extLst>
          </p:cNvPr>
          <p:cNvSpPr>
            <a:spLocks noGrp="1"/>
          </p:cNvSpPr>
          <p:nvPr/>
        </p:nvSpPr>
        <p:spPr>
          <a:xfrm>
            <a:off x="419100" y="2400300"/>
            <a:ext cx="3429000" cy="552450"/>
          </a:xfrm>
          <a:prstGeom prst="roundRect">
            <a:avLst>
              <a:gd name="adj" fmla="val 17241"/>
            </a:avLst>
          </a:prstGeom>
          <a:solidFill>
            <a:srgbClr val="FBE5E5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7" name="maturity-head-text-0">
            <a:extLst>
              <a:ext uri="{FF2B5EF4-FFF2-40B4-BE49-F238E27FC236}">
                <a16:creationId xmlns:a16="http://schemas.microsoft.com/office/drawing/2014/main" id="{12824030-B9CB-4ED5-ABFF-21D2D926A5FF}"/>
              </a:ext>
            </a:extLst>
          </p:cNvPr>
          <p:cNvSpPr>
            <a:spLocks noGrp="1"/>
          </p:cNvSpPr>
          <p:nvPr/>
        </p:nvSpPr>
        <p:spPr>
          <a:xfrm>
            <a:off x="647700" y="2590800"/>
            <a:ext cx="2971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1">
                <a:solidFill>
                  <a:srgbClr val="D85A5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5A5A"/>
                </a:solidFill>
                <a:latin typeface="Arial"/>
                <a:ea typeface="Arial"/>
                <a:cs typeface="Arial"/>
              </a:rPr>
              <a:t>נדרש לפני שחרור</a:t>
            </a:r>
          </a:p>
        </p:txBody>
      </p:sp>
      <p:sp>
        <p:nvSpPr>
          <p:cNvPr id="8" name="maturity-col-1">
            <a:extLst>
              <a:ext uri="{FF2B5EF4-FFF2-40B4-BE49-F238E27FC236}">
                <a16:creationId xmlns:a16="http://schemas.microsoft.com/office/drawing/2014/main" id="{4C1F6D48-07A7-47B1-A282-F575D710A240}"/>
              </a:ext>
            </a:extLst>
          </p:cNvPr>
          <p:cNvSpPr>
            <a:spLocks noGrp="1"/>
          </p:cNvSpPr>
          <p:nvPr/>
        </p:nvSpPr>
        <p:spPr>
          <a:xfrm>
            <a:off x="4248150" y="2400300"/>
            <a:ext cx="3429000" cy="32766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9" name="maturity-head-1">
            <a:extLst>
              <a:ext uri="{FF2B5EF4-FFF2-40B4-BE49-F238E27FC236}">
                <a16:creationId xmlns:a16="http://schemas.microsoft.com/office/drawing/2014/main" id="{C85EB39C-5E79-4FDB-AD5E-23838110D2A0}"/>
              </a:ext>
            </a:extLst>
          </p:cNvPr>
          <p:cNvSpPr>
            <a:spLocks noGrp="1"/>
          </p:cNvSpPr>
          <p:nvPr/>
        </p:nvSpPr>
        <p:spPr>
          <a:xfrm>
            <a:off x="4248150" y="2400300"/>
            <a:ext cx="3429000" cy="552450"/>
          </a:xfrm>
          <a:prstGeom prst="roundRect">
            <a:avLst>
              <a:gd name="adj" fmla="val 17241"/>
            </a:avLst>
          </a:prstGeom>
          <a:solidFill>
            <a:srgbClr val="E6F0FF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0" name="maturity-head-text-1">
            <a:extLst>
              <a:ext uri="{FF2B5EF4-FFF2-40B4-BE49-F238E27FC236}">
                <a16:creationId xmlns:a16="http://schemas.microsoft.com/office/drawing/2014/main" id="{6936583C-9D5F-4F44-B9A3-CB36CC706B4B}"/>
              </a:ext>
            </a:extLst>
          </p:cNvPr>
          <p:cNvSpPr>
            <a:spLocks noGrp="1"/>
          </p:cNvSpPr>
          <p:nvPr/>
        </p:nvSpPr>
        <p:spPr>
          <a:xfrm>
            <a:off x="4476750" y="2590800"/>
            <a:ext cx="2971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מאומת / חלקי</a:t>
            </a:r>
          </a:p>
        </p:txBody>
      </p:sp>
      <p:sp>
        <p:nvSpPr>
          <p:cNvPr id="11" name="maturity-col-2">
            <a:extLst>
              <a:ext uri="{FF2B5EF4-FFF2-40B4-BE49-F238E27FC236}">
                <a16:creationId xmlns:a16="http://schemas.microsoft.com/office/drawing/2014/main" id="{3C3F6651-062C-49C5-915B-B625CF959FA4}"/>
              </a:ext>
            </a:extLst>
          </p:cNvPr>
          <p:cNvSpPr>
            <a:spLocks noGrp="1"/>
          </p:cNvSpPr>
          <p:nvPr/>
        </p:nvSpPr>
        <p:spPr>
          <a:xfrm>
            <a:off x="8077200" y="2400300"/>
            <a:ext cx="3429000" cy="32766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9525">
            <a:solidFill>
              <a:srgbClr val="B8C2C8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2" name="maturity-head-2">
            <a:extLst>
              <a:ext uri="{FF2B5EF4-FFF2-40B4-BE49-F238E27FC236}">
                <a16:creationId xmlns:a16="http://schemas.microsoft.com/office/drawing/2014/main" id="{FBBE75F2-F91C-4126-B1D6-55F107B0562E}"/>
              </a:ext>
            </a:extLst>
          </p:cNvPr>
          <p:cNvSpPr>
            <a:spLocks noGrp="1"/>
          </p:cNvSpPr>
          <p:nvPr/>
        </p:nvSpPr>
        <p:spPr>
          <a:xfrm>
            <a:off x="8077200" y="2400300"/>
            <a:ext cx="3429000" cy="552450"/>
          </a:xfrm>
          <a:prstGeom prst="roundRect">
            <a:avLst>
              <a:gd name="adj" fmla="val 17241"/>
            </a:avLst>
          </a:prstGeom>
          <a:solidFill>
            <a:srgbClr val="E3F5EC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3" name="maturity-head-text-2">
            <a:extLst>
              <a:ext uri="{FF2B5EF4-FFF2-40B4-BE49-F238E27FC236}">
                <a16:creationId xmlns:a16="http://schemas.microsoft.com/office/drawing/2014/main" id="{4AC161BE-60B8-4A71-829B-50ED674637AA}"/>
              </a:ext>
            </a:extLst>
          </p:cNvPr>
          <p:cNvSpPr>
            <a:spLocks noGrp="1"/>
          </p:cNvSpPr>
          <p:nvPr/>
        </p:nvSpPr>
        <p:spPr>
          <a:xfrm>
            <a:off x="8305800" y="2590800"/>
            <a:ext cx="2971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1">
                <a:solidFill>
                  <a:srgbClr val="47B8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B881"/>
                </a:solidFill>
                <a:latin typeface="Arial"/>
                <a:ea typeface="Arial"/>
                <a:cs typeface="Arial"/>
              </a:rPr>
              <a:t>מיושם</a:t>
            </a:r>
          </a:p>
        </p:txBody>
      </p:sp>
      <p:sp>
        <p:nvSpPr>
          <p:cNvPr id="14" name="impl-dot-0">
            <a:extLst>
              <a:ext uri="{FF2B5EF4-FFF2-40B4-BE49-F238E27FC236}">
                <a16:creationId xmlns:a16="http://schemas.microsoft.com/office/drawing/2014/main" id="{B27EE6DA-D3C8-4E3D-A43C-B25373AE9777}"/>
              </a:ext>
            </a:extLst>
          </p:cNvPr>
          <p:cNvSpPr>
            <a:spLocks noGrp="1"/>
          </p:cNvSpPr>
          <p:nvPr/>
        </p:nvSpPr>
        <p:spPr>
          <a:xfrm>
            <a:off x="11163300" y="3257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5" name="impl-text-0">
            <a:extLst>
              <a:ext uri="{FF2B5EF4-FFF2-40B4-BE49-F238E27FC236}">
                <a16:creationId xmlns:a16="http://schemas.microsoft.com/office/drawing/2014/main" id="{BAC1D00F-6022-42BB-B4D2-FB4C0BC8CFE2}"/>
              </a:ext>
            </a:extLst>
          </p:cNvPr>
          <p:cNvSpPr>
            <a:spLocks noGrp="1"/>
          </p:cNvSpPr>
          <p:nvPr/>
        </p:nvSpPr>
        <p:spPr>
          <a:xfrm>
            <a:off x="8305800" y="318135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סכמת SQLite v43 בבעלות השרת</a:t>
            </a:r>
          </a:p>
        </p:txBody>
      </p:sp>
      <p:sp>
        <p:nvSpPr>
          <p:cNvPr id="16" name="impl-dot-1">
            <a:extLst>
              <a:ext uri="{FF2B5EF4-FFF2-40B4-BE49-F238E27FC236}">
                <a16:creationId xmlns:a16="http://schemas.microsoft.com/office/drawing/2014/main" id="{DF29956F-03F3-4029-8D06-E0A55F31E325}"/>
              </a:ext>
            </a:extLst>
          </p:cNvPr>
          <p:cNvSpPr>
            <a:spLocks noGrp="1"/>
          </p:cNvSpPr>
          <p:nvPr/>
        </p:nvSpPr>
        <p:spPr>
          <a:xfrm>
            <a:off x="11163300" y="3810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7" name="impl-text-1">
            <a:extLst>
              <a:ext uri="{FF2B5EF4-FFF2-40B4-BE49-F238E27FC236}">
                <a16:creationId xmlns:a16="http://schemas.microsoft.com/office/drawing/2014/main" id="{5DA46984-5392-4B65-9E2C-8382123EEE5F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שרת .NET 10 ולקוח WPF</a:t>
            </a:r>
          </a:p>
        </p:txBody>
      </p:sp>
      <p:sp>
        <p:nvSpPr>
          <p:cNvPr id="18" name="impl-dot-2">
            <a:extLst>
              <a:ext uri="{FF2B5EF4-FFF2-40B4-BE49-F238E27FC236}">
                <a16:creationId xmlns:a16="http://schemas.microsoft.com/office/drawing/2014/main" id="{91E73E38-C35A-4D27-8F96-AE90093D03CE}"/>
              </a:ext>
            </a:extLst>
          </p:cNvPr>
          <p:cNvSpPr>
            <a:spLocks noGrp="1"/>
          </p:cNvSpPr>
          <p:nvPr/>
        </p:nvSpPr>
        <p:spPr>
          <a:xfrm>
            <a:off x="11163300" y="4362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9" name="impl-text-2">
            <a:extLst>
              <a:ext uri="{FF2B5EF4-FFF2-40B4-BE49-F238E27FC236}">
                <a16:creationId xmlns:a16="http://schemas.microsoft.com/office/drawing/2014/main" id="{684E3CE2-37B9-45B7-92CD-25BEEDA9434F}"/>
              </a:ext>
            </a:extLst>
          </p:cNvPr>
          <p:cNvSpPr>
            <a:spLocks noGrp="1"/>
          </p:cNvSpPr>
          <p:nvPr/>
        </p:nvSpPr>
        <p:spPr>
          <a:xfrm>
            <a:off x="8305800" y="428625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לוח תכנון, ציר זמן ולוח TV</a:t>
            </a:r>
          </a:p>
        </p:txBody>
      </p:sp>
      <p:sp>
        <p:nvSpPr>
          <p:cNvPr id="20" name="impl-dot-3">
            <a:extLst>
              <a:ext uri="{FF2B5EF4-FFF2-40B4-BE49-F238E27FC236}">
                <a16:creationId xmlns:a16="http://schemas.microsoft.com/office/drawing/2014/main" id="{A38DB602-810B-4A15-9817-957B5B6705A1}"/>
              </a:ext>
            </a:extLst>
          </p:cNvPr>
          <p:cNvSpPr>
            <a:spLocks noGrp="1"/>
          </p:cNvSpPr>
          <p:nvPr/>
        </p:nvSpPr>
        <p:spPr>
          <a:xfrm>
            <a:off x="11163300" y="4914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21" name="impl-text-3">
            <a:extLst>
              <a:ext uri="{FF2B5EF4-FFF2-40B4-BE49-F238E27FC236}">
                <a16:creationId xmlns:a16="http://schemas.microsoft.com/office/drawing/2014/main" id="{599F40EE-A911-4627-815F-9C0D1F6CB52D}"/>
              </a:ext>
            </a:extLst>
          </p:cNvPr>
          <p:cNvSpPr>
            <a:spLocks noGrp="1"/>
          </p:cNvSpPr>
          <p:nvPr/>
        </p:nvSpPr>
        <p:spPr>
          <a:xfrm>
            <a:off x="8305800" y="483870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מוכנות G-code וחיבור Kitaron ראשוני</a:t>
            </a:r>
          </a:p>
        </p:txBody>
      </p:sp>
      <p:sp>
        <p:nvSpPr>
          <p:cNvPr id="22" name="partial-dot-0">
            <a:extLst>
              <a:ext uri="{FF2B5EF4-FFF2-40B4-BE49-F238E27FC236}">
                <a16:creationId xmlns:a16="http://schemas.microsoft.com/office/drawing/2014/main" id="{0CBE6580-65C3-4CE3-BC9C-4E5518FF4344}"/>
              </a:ext>
            </a:extLst>
          </p:cNvPr>
          <p:cNvSpPr>
            <a:spLocks noGrp="1"/>
          </p:cNvSpPr>
          <p:nvPr/>
        </p:nvSpPr>
        <p:spPr>
          <a:xfrm>
            <a:off x="7334250" y="3257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23" name="partial-text-0">
            <a:extLst>
              <a:ext uri="{FF2B5EF4-FFF2-40B4-BE49-F238E27FC236}">
                <a16:creationId xmlns:a16="http://schemas.microsoft.com/office/drawing/2014/main" id="{966B8414-7AFF-49E2-BC3B-527188E1F2F7}"/>
              </a:ext>
            </a:extLst>
          </p:cNvPr>
          <p:cNvSpPr>
            <a:spLocks noGrp="1"/>
          </p:cNvSpPr>
          <p:nvPr/>
        </p:nvSpPr>
        <p:spPr>
          <a:xfrm>
            <a:off x="4476750" y="318135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ציר זמן וקונפליקטים דטרמיניסטיים</a:t>
            </a:r>
          </a:p>
        </p:txBody>
      </p:sp>
      <p:sp>
        <p:nvSpPr>
          <p:cNvPr id="24" name="partial-dot-1">
            <a:extLst>
              <a:ext uri="{FF2B5EF4-FFF2-40B4-BE49-F238E27FC236}">
                <a16:creationId xmlns:a16="http://schemas.microsoft.com/office/drawing/2014/main" id="{D9113D98-A50E-4AC6-A9B4-5FA0CA2868C6}"/>
              </a:ext>
            </a:extLst>
          </p:cNvPr>
          <p:cNvSpPr>
            <a:spLocks noGrp="1"/>
          </p:cNvSpPr>
          <p:nvPr/>
        </p:nvSpPr>
        <p:spPr>
          <a:xfrm>
            <a:off x="7334250" y="3810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25" name="partial-text-1">
            <a:extLst>
              <a:ext uri="{FF2B5EF4-FFF2-40B4-BE49-F238E27FC236}">
                <a16:creationId xmlns:a16="http://schemas.microsoft.com/office/drawing/2014/main" id="{5F58D1B2-4293-4BAA-A54E-58CEEF56406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מודל מקביליות עם אסימון עריכה</a:t>
            </a:r>
          </a:p>
        </p:txBody>
      </p:sp>
      <p:sp>
        <p:nvSpPr>
          <p:cNvPr id="26" name="partial-dot-2">
            <a:extLst>
              <a:ext uri="{FF2B5EF4-FFF2-40B4-BE49-F238E27FC236}">
                <a16:creationId xmlns:a16="http://schemas.microsoft.com/office/drawing/2014/main" id="{22B7D8F7-8C0C-4132-ACE5-E476F41C214F}"/>
              </a:ext>
            </a:extLst>
          </p:cNvPr>
          <p:cNvSpPr>
            <a:spLocks noGrp="1"/>
          </p:cNvSpPr>
          <p:nvPr/>
        </p:nvSpPr>
        <p:spPr>
          <a:xfrm>
            <a:off x="7334250" y="4362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27" name="partial-text-2">
            <a:extLst>
              <a:ext uri="{FF2B5EF4-FFF2-40B4-BE49-F238E27FC236}">
                <a16:creationId xmlns:a16="http://schemas.microsoft.com/office/drawing/2014/main" id="{CF7188DA-0CBC-4F75-A01F-4CEEB1D77473}"/>
              </a:ext>
            </a:extLst>
          </p:cNvPr>
          <p:cNvSpPr>
            <a:spLocks noGrp="1"/>
          </p:cNvSpPr>
          <p:nvPr/>
        </p:nvSpPr>
        <p:spPr>
          <a:xfrm>
            <a:off x="4476750" y="428625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בדיקות גיבוי ושחזור בסיס הנתונים</a:t>
            </a:r>
          </a:p>
        </p:txBody>
      </p:sp>
      <p:sp>
        <p:nvSpPr>
          <p:cNvPr id="28" name="partial-dot-3">
            <a:extLst>
              <a:ext uri="{FF2B5EF4-FFF2-40B4-BE49-F238E27FC236}">
                <a16:creationId xmlns:a16="http://schemas.microsoft.com/office/drawing/2014/main" id="{EEAF594B-D6A1-45DD-BBBD-CB9A712AEC12}"/>
              </a:ext>
            </a:extLst>
          </p:cNvPr>
          <p:cNvSpPr>
            <a:spLocks noGrp="1"/>
          </p:cNvSpPr>
          <p:nvPr/>
        </p:nvSpPr>
        <p:spPr>
          <a:xfrm>
            <a:off x="7334250" y="4914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29" name="partial-text-3">
            <a:extLst>
              <a:ext uri="{FF2B5EF4-FFF2-40B4-BE49-F238E27FC236}">
                <a16:creationId xmlns:a16="http://schemas.microsoft.com/office/drawing/2014/main" id="{00AE469A-FF9E-491F-99DF-83B6B5141217}"/>
              </a:ext>
            </a:extLst>
          </p:cNvPr>
          <p:cNvSpPr>
            <a:spLocks noGrp="1"/>
          </p:cNvSpPr>
          <p:nvPr/>
        </p:nvSpPr>
        <p:spPr>
          <a:xfrm>
            <a:off x="4476750" y="483870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API וסימולטור לחבילות E-Ink</a:t>
            </a:r>
          </a:p>
        </p:txBody>
      </p:sp>
      <p:sp>
        <p:nvSpPr>
          <p:cNvPr id="30" name="next-dot-0">
            <a:extLst>
              <a:ext uri="{FF2B5EF4-FFF2-40B4-BE49-F238E27FC236}">
                <a16:creationId xmlns:a16="http://schemas.microsoft.com/office/drawing/2014/main" id="{890A7869-48A9-4B53-9B37-C0A1871750E3}"/>
              </a:ext>
            </a:extLst>
          </p:cNvPr>
          <p:cNvSpPr>
            <a:spLocks noGrp="1"/>
          </p:cNvSpPr>
          <p:nvPr/>
        </p:nvSpPr>
        <p:spPr>
          <a:xfrm>
            <a:off x="3505200" y="3257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31" name="next-text-0">
            <a:extLst>
              <a:ext uri="{FF2B5EF4-FFF2-40B4-BE49-F238E27FC236}">
                <a16:creationId xmlns:a16="http://schemas.microsoft.com/office/drawing/2014/main" id="{DFD97465-225B-4678-A906-1A6EB1F16394}"/>
              </a:ext>
            </a:extLst>
          </p:cNvPr>
          <p:cNvSpPr>
            <a:spLocks noGrp="1"/>
          </p:cNvSpPr>
          <p:nvPr/>
        </p:nvSpPr>
        <p:spPr>
          <a:xfrm>
            <a:off x="647700" y="318135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אימות משתמשים / TV ו־TLS</a:t>
            </a:r>
          </a:p>
        </p:txBody>
      </p:sp>
      <p:sp>
        <p:nvSpPr>
          <p:cNvPr id="32" name="next-dot-1">
            <a:extLst>
              <a:ext uri="{FF2B5EF4-FFF2-40B4-BE49-F238E27FC236}">
                <a16:creationId xmlns:a16="http://schemas.microsoft.com/office/drawing/2014/main" id="{00A0113C-2094-4452-B3C5-2524753787CF}"/>
              </a:ext>
            </a:extLst>
          </p:cNvPr>
          <p:cNvSpPr>
            <a:spLocks noGrp="1"/>
          </p:cNvSpPr>
          <p:nvPr/>
        </p:nvSpPr>
        <p:spPr>
          <a:xfrm>
            <a:off x="3505200" y="3810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33" name="next-text-1">
            <a:extLst>
              <a:ext uri="{FF2B5EF4-FFF2-40B4-BE49-F238E27FC236}">
                <a16:creationId xmlns:a16="http://schemas.microsoft.com/office/drawing/2014/main" id="{332BBD2D-8C37-46A5-AEC1-DF5B754EE99A}"/>
              </a:ext>
            </a:extLst>
          </p:cNvPr>
          <p:cNvSpPr>
            <a:spLocks noGrp="1"/>
          </p:cNvSpPr>
          <p:nvPr/>
        </p:nvSpPr>
        <p:spPr>
          <a:xfrm>
            <a:off x="647700" y="373380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גיבוי מתואם לקובצי החבילות</a:t>
            </a:r>
          </a:p>
        </p:txBody>
      </p:sp>
      <p:sp>
        <p:nvSpPr>
          <p:cNvPr id="34" name="next-dot-2">
            <a:extLst>
              <a:ext uri="{FF2B5EF4-FFF2-40B4-BE49-F238E27FC236}">
                <a16:creationId xmlns:a16="http://schemas.microsoft.com/office/drawing/2014/main" id="{D5E09A2E-AF0D-40DA-91B9-C09DFD2984FB}"/>
              </a:ext>
            </a:extLst>
          </p:cNvPr>
          <p:cNvSpPr>
            <a:spLocks noGrp="1"/>
          </p:cNvSpPr>
          <p:nvPr/>
        </p:nvSpPr>
        <p:spPr>
          <a:xfrm>
            <a:off x="3505200" y="4362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35" name="next-text-2">
            <a:extLst>
              <a:ext uri="{FF2B5EF4-FFF2-40B4-BE49-F238E27FC236}">
                <a16:creationId xmlns:a16="http://schemas.microsoft.com/office/drawing/2014/main" id="{1A40EACB-A093-4054-85DC-1604F45E6637}"/>
              </a:ext>
            </a:extLst>
          </p:cNvPr>
          <p:cNvSpPr>
            <a:spLocks noGrp="1"/>
          </p:cNvSpPr>
          <p:nvPr/>
        </p:nvSpPr>
        <p:spPr>
          <a:xfrm>
            <a:off x="647700" y="428625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השלמת API ליומנים ולקונפליקטים</a:t>
            </a:r>
          </a:p>
        </p:txBody>
      </p:sp>
      <p:sp>
        <p:nvSpPr>
          <p:cNvPr id="36" name="next-dot-3">
            <a:extLst>
              <a:ext uri="{FF2B5EF4-FFF2-40B4-BE49-F238E27FC236}">
                <a16:creationId xmlns:a16="http://schemas.microsoft.com/office/drawing/2014/main" id="{69088984-B038-4C2E-A6BC-957D116E16CE}"/>
              </a:ext>
            </a:extLst>
          </p:cNvPr>
          <p:cNvSpPr>
            <a:spLocks noGrp="1"/>
          </p:cNvSpPr>
          <p:nvPr/>
        </p:nvSpPr>
        <p:spPr>
          <a:xfrm>
            <a:off x="3505200" y="4914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EC4C7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37" name="next-text-3">
            <a:extLst>
              <a:ext uri="{FF2B5EF4-FFF2-40B4-BE49-F238E27FC236}">
                <a16:creationId xmlns:a16="http://schemas.microsoft.com/office/drawing/2014/main" id="{35FD549B-CE3C-48FD-8AC7-DFD52878D98D}"/>
              </a:ext>
            </a:extLst>
          </p:cNvPr>
          <p:cNvSpPr>
            <a:spLocks noGrp="1"/>
          </p:cNvSpPr>
          <p:nvPr/>
        </p:nvSpPr>
        <p:spPr>
          <a:xfrm>
            <a:off x="647700" y="483870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500" b="0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C1B24"/>
                </a:solidFill>
                <a:latin typeface="Arial"/>
                <a:ea typeface="Arial"/>
                <a:cs typeface="Arial"/>
              </a:rPr>
              <a:t>קבלת התקנים פיזיים ואתר הלקוח</a:t>
            </a:r>
          </a:p>
        </p:txBody>
      </p:sp>
      <p:sp>
        <p:nvSpPr>
          <p:cNvPr id="38" name="maturity-status">
            <a:extLst>
              <a:ext uri="{FF2B5EF4-FFF2-40B4-BE49-F238E27FC236}">
                <a16:creationId xmlns:a16="http://schemas.microsoft.com/office/drawing/2014/main" id="{1B16EFFA-E766-4544-8C78-F1752AFD15DD}"/>
              </a:ext>
            </a:extLst>
          </p:cNvPr>
          <p:cNvSpPr>
            <a:spLocks noGrp="1"/>
          </p:cNvSpPr>
          <p:nvPr/>
        </p:nvSpPr>
        <p:spPr>
          <a:xfrm>
            <a:off x="419100" y="5905500"/>
            <a:ext cx="11087100" cy="361950"/>
          </a:xfrm>
          <a:prstGeom prst="roundRect">
            <a:avLst>
              <a:gd name="adj" fmla="val 21053"/>
            </a:avLst>
          </a:prstGeom>
          <a:solidFill>
            <a:srgbClr val="071722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39" name="maturity-status-text">
            <a:extLst>
              <a:ext uri="{FF2B5EF4-FFF2-40B4-BE49-F238E27FC236}">
                <a16:creationId xmlns:a16="http://schemas.microsoft.com/office/drawing/2014/main" id="{85957BC1-0A65-4E9E-9AD2-CB9D5177A03B}"/>
              </a:ext>
            </a:extLst>
          </p:cNvPr>
          <p:cNvSpPr>
            <a:spLocks noGrp="1"/>
          </p:cNvSpPr>
          <p:nvPr/>
        </p:nvSpPr>
        <p:spPr>
          <a:xfrm>
            <a:off x="647700" y="6000750"/>
            <a:ext cx="10629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מצב נוכחי  •  חתך אנכי של MVP בפיתוח</a:t>
            </a:r>
          </a:p>
        </p:txBody>
      </p:sp>
      <p:sp>
        <p:nvSpPr>
          <p:cNvPr id="40" name="footer-brand-9">
            <a:extLst>
              <a:ext uri="{FF2B5EF4-FFF2-40B4-BE49-F238E27FC236}">
                <a16:creationId xmlns:a16="http://schemas.microsoft.com/office/drawing/2014/main" id="{B1496A5C-DB82-4986-B0BE-4DCAC4EFECEA}"/>
              </a:ext>
            </a:extLst>
          </p:cNvPr>
          <p:cNvSpPr>
            <a:spLocks noGrp="1"/>
          </p:cNvSpPr>
          <p:nvPr/>
        </p:nvSpPr>
        <p:spPr>
          <a:xfrm>
            <a:off x="400050" y="6438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MEIMAD  |  תכנון ייצור</a:t>
            </a:r>
          </a:p>
        </p:txBody>
      </p:sp>
      <p:sp>
        <p:nvSpPr>
          <p:cNvPr id="41" name="footer-page-9">
            <a:extLst>
              <a:ext uri="{FF2B5EF4-FFF2-40B4-BE49-F238E27FC236}">
                <a16:creationId xmlns:a16="http://schemas.microsoft.com/office/drawing/2014/main" id="{2090778A-2A04-4FE0-B771-9ACB5B8BF52D}"/>
              </a:ext>
            </a:extLst>
          </p:cNvPr>
          <p:cNvSpPr>
            <a:spLocks noGrp="1"/>
          </p:cNvSpPr>
          <p:nvPr/>
        </p:nvSpPr>
        <p:spPr>
          <a:xfrm>
            <a:off x="11287125" y="64389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4297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lose-kicker">
            <a:extLst>
              <a:ext uri="{FF2B5EF4-FFF2-40B4-BE49-F238E27FC236}">
                <a16:creationId xmlns:a16="http://schemas.microsoft.com/office/drawing/2014/main" id="{7ED42162-B0C0-49C7-A10C-8E9FD7529F31}"/>
              </a:ext>
            </a:extLst>
          </p:cNvPr>
          <p:cNvSpPr>
            <a:spLocks noGrp="1"/>
          </p:cNvSpPr>
          <p:nvPr/>
        </p:nvSpPr>
        <p:spPr>
          <a:xfrm>
            <a:off x="8839200" y="43815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975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ההחלטה הבאה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C231F562-4B9C-4659-A935-2E494AB95E03}"/>
              </a:ext>
            </a:extLst>
          </p:cNvPr>
          <p:cNvSpPr>
            <a:spLocks noGrp="1"/>
          </p:cNvSpPr>
          <p:nvPr/>
        </p:nvSpPr>
        <p:spPr>
          <a:xfrm>
            <a:off x="4876800" y="914400"/>
            <a:ext cx="685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להוכיח את מעגל התכנון</a:t>
            </a:r>
          </a:p>
          <a:p>
            <a:pPr algn="r" rtl="1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בפיילוט מפעלי מבוקר</a:t>
            </a:r>
          </a:p>
        </p:txBody>
      </p:sp>
      <p:sp>
        <p:nvSpPr>
          <p:cNvPr id="3" name="close-sub">
            <a:extLst>
              <a:ext uri="{FF2B5EF4-FFF2-40B4-BE49-F238E27FC236}">
                <a16:creationId xmlns:a16="http://schemas.microsoft.com/office/drawing/2014/main" id="{18A9F5C9-82D3-4499-B807-DD1EC74AC97A}"/>
              </a:ext>
            </a:extLst>
          </p:cNvPr>
          <p:cNvSpPr>
            <a:spLocks noGrp="1"/>
          </p:cNvSpPr>
          <p:nvPr/>
        </p:nvSpPr>
        <p:spPr>
          <a:xfrm>
            <a:off x="5067300" y="2533650"/>
            <a:ext cx="666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800" b="0">
                <a:solidFill>
                  <a:srgbClr val="C9D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7DD"/>
                </a:solidFill>
                <a:latin typeface="Arial"/>
                <a:ea typeface="Arial"/>
                <a:cs typeface="Arial"/>
              </a:rPr>
              <a:t>מתחילים בקבוצת המכונות שבה תנודתיות התור ומגבלות הכיוון יוצרות את ההפרעה היומית הגדולה ביותר.</a:t>
            </a:r>
          </a:p>
        </p:txBody>
      </p:sp>
      <p:sp>
        <p:nvSpPr>
          <p:cNvPr id="4" name="close-stage-0">
            <a:extLst>
              <a:ext uri="{FF2B5EF4-FFF2-40B4-BE49-F238E27FC236}">
                <a16:creationId xmlns:a16="http://schemas.microsoft.com/office/drawing/2014/main" id="{93B20A37-E659-4A75-8F34-6A1DACA94812}"/>
              </a:ext>
            </a:extLst>
          </p:cNvPr>
          <p:cNvSpPr>
            <a:spLocks noGrp="1"/>
          </p:cNvSpPr>
          <p:nvPr/>
        </p:nvSpPr>
        <p:spPr>
          <a:xfrm>
            <a:off x="457200" y="3867150"/>
            <a:ext cx="33337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5" name="close-stage-n-0">
            <a:extLst>
              <a:ext uri="{FF2B5EF4-FFF2-40B4-BE49-F238E27FC236}">
                <a16:creationId xmlns:a16="http://schemas.microsoft.com/office/drawing/2014/main" id="{836715E9-DB08-4B77-BA08-BED296669D5B}"/>
              </a:ext>
            </a:extLst>
          </p:cNvPr>
          <p:cNvSpPr>
            <a:spLocks noGrp="1"/>
          </p:cNvSpPr>
          <p:nvPr/>
        </p:nvSpPr>
        <p:spPr>
          <a:xfrm>
            <a:off x="666750" y="40767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close-stage-t-0">
            <a:extLst>
              <a:ext uri="{FF2B5EF4-FFF2-40B4-BE49-F238E27FC236}">
                <a16:creationId xmlns:a16="http://schemas.microsoft.com/office/drawing/2014/main" id="{9A3E6FC6-275D-456C-BCF6-862EC054BCD9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725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הפעלת הלוח</a:t>
            </a:r>
          </a:p>
        </p:txBody>
      </p:sp>
      <p:sp>
        <p:nvSpPr>
          <p:cNvPr id="7" name="close-stage-d-0">
            <a:extLst>
              <a:ext uri="{FF2B5EF4-FFF2-40B4-BE49-F238E27FC236}">
                <a16:creationId xmlns:a16="http://schemas.microsoft.com/office/drawing/2014/main" id="{1940FF4F-2B56-40DB-AB87-64C98663A2AB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20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לתכנן ידנית ולהשוות את השלכות ציר הזמן לביצוע האמיתי.</a:t>
            </a:r>
          </a:p>
        </p:txBody>
      </p:sp>
      <p:sp>
        <p:nvSpPr>
          <p:cNvPr id="8" name="close-stage-1">
            <a:extLst>
              <a:ext uri="{FF2B5EF4-FFF2-40B4-BE49-F238E27FC236}">
                <a16:creationId xmlns:a16="http://schemas.microsoft.com/office/drawing/2014/main" id="{825F4991-094E-4D25-970B-038D8487768C}"/>
              </a:ext>
            </a:extLst>
          </p:cNvPr>
          <p:cNvSpPr>
            <a:spLocks noGrp="1"/>
          </p:cNvSpPr>
          <p:nvPr/>
        </p:nvSpPr>
        <p:spPr>
          <a:xfrm>
            <a:off x="4171950" y="3867150"/>
            <a:ext cx="3333750" cy="1619250"/>
          </a:xfrm>
          <a:prstGeom prst="roundRect">
            <a:avLst>
              <a:gd name="adj" fmla="val 5882"/>
            </a:avLst>
          </a:prstGeom>
          <a:solidFill>
            <a:srgbClr val="DDF5F4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9" name="close-stage-n-1">
            <a:extLst>
              <a:ext uri="{FF2B5EF4-FFF2-40B4-BE49-F238E27FC236}">
                <a16:creationId xmlns:a16="http://schemas.microsoft.com/office/drawing/2014/main" id="{92360650-D01D-4F67-B3AB-46F40ACA6C52}"/>
              </a:ext>
            </a:extLst>
          </p:cNvPr>
          <p:cNvSpPr>
            <a:spLocks noGrp="1"/>
          </p:cNvSpPr>
          <p:nvPr/>
        </p:nvSpPr>
        <p:spPr>
          <a:xfrm>
            <a:off x="4381500" y="40767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1">
                <a:solidFill>
                  <a:srgbClr val="2EC4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C4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close-stage-t-1">
            <a:extLst>
              <a:ext uri="{FF2B5EF4-FFF2-40B4-BE49-F238E27FC236}">
                <a16:creationId xmlns:a16="http://schemas.microsoft.com/office/drawing/2014/main" id="{22AB1DFF-0227-4A4D-9B98-95B42EED24B7}"/>
              </a:ext>
            </a:extLst>
          </p:cNvPr>
          <p:cNvSpPr>
            <a:spLocks noGrp="1"/>
          </p:cNvSpPr>
          <p:nvPr/>
        </p:nvSpPr>
        <p:spPr>
          <a:xfrm>
            <a:off x="4381500" y="44386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725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מידול משפחת מסלולים</a:t>
            </a:r>
          </a:p>
        </p:txBody>
      </p:sp>
      <p:sp>
        <p:nvSpPr>
          <p:cNvPr id="11" name="close-stage-d-1">
            <a:extLst>
              <a:ext uri="{FF2B5EF4-FFF2-40B4-BE49-F238E27FC236}">
                <a16:creationId xmlns:a16="http://schemas.microsoft.com/office/drawing/2014/main" id="{45614ED8-059A-469F-AD0F-E05C65EC9F74}"/>
              </a:ext>
            </a:extLst>
          </p:cNvPr>
          <p:cNvSpPr>
            <a:spLocks noGrp="1"/>
          </p:cNvSpPr>
          <p:nvPr/>
        </p:nvSpPr>
        <p:spPr>
          <a:xfrm>
            <a:off x="4381500" y="48577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20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לאמת פעולות, מכונות תואמות, זמנים ושערי מוכנות.</a:t>
            </a:r>
          </a:p>
        </p:txBody>
      </p:sp>
      <p:sp>
        <p:nvSpPr>
          <p:cNvPr id="12" name="close-stage-2">
            <a:extLst>
              <a:ext uri="{FF2B5EF4-FFF2-40B4-BE49-F238E27FC236}">
                <a16:creationId xmlns:a16="http://schemas.microsoft.com/office/drawing/2014/main" id="{2DABF506-5EE3-468B-BACC-DB56FA246D3F}"/>
              </a:ext>
            </a:extLst>
          </p:cNvPr>
          <p:cNvSpPr>
            <a:spLocks noGrp="1"/>
          </p:cNvSpPr>
          <p:nvPr/>
        </p:nvSpPr>
        <p:spPr>
          <a:xfrm>
            <a:off x="7886700" y="3867150"/>
            <a:ext cx="33337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3" name="close-stage-n-2">
            <a:extLst>
              <a:ext uri="{FF2B5EF4-FFF2-40B4-BE49-F238E27FC236}">
                <a16:creationId xmlns:a16="http://schemas.microsoft.com/office/drawing/2014/main" id="{DCB8845D-90B1-4600-AB8F-6457C5540E8D}"/>
              </a:ext>
            </a:extLst>
          </p:cNvPr>
          <p:cNvSpPr>
            <a:spLocks noGrp="1"/>
          </p:cNvSpPr>
          <p:nvPr/>
        </p:nvSpPr>
        <p:spPr>
          <a:xfrm>
            <a:off x="8096250" y="40767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close-stage-t-2">
            <a:extLst>
              <a:ext uri="{FF2B5EF4-FFF2-40B4-BE49-F238E27FC236}">
                <a16:creationId xmlns:a16="http://schemas.microsoft.com/office/drawing/2014/main" id="{E57CCF6B-60B1-4A9C-A94F-1764B1DF54D4}"/>
              </a:ext>
            </a:extLst>
          </p:cNvPr>
          <p:cNvSpPr>
            <a:spLocks noGrp="1"/>
          </p:cNvSpPr>
          <p:nvPr/>
        </p:nvSpPr>
        <p:spPr>
          <a:xfrm>
            <a:off x="8096250" y="44386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725" b="1">
                <a:solidFill>
                  <a:srgbClr val="0C1B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C1B24"/>
                </a:solidFill>
                <a:latin typeface="Arial"/>
                <a:ea typeface="Arial"/>
                <a:cs typeface="Arial"/>
              </a:rPr>
              <a:t>חיבור הביקוש</a:t>
            </a:r>
          </a:p>
        </p:txBody>
      </p:sp>
      <p:sp>
        <p:nvSpPr>
          <p:cNvPr id="15" name="close-stage-d-2">
            <a:extLst>
              <a:ext uri="{FF2B5EF4-FFF2-40B4-BE49-F238E27FC236}">
                <a16:creationId xmlns:a16="http://schemas.microsoft.com/office/drawing/2014/main" id="{31663CE4-3517-4F41-9CBA-7F369581487B}"/>
              </a:ext>
            </a:extLst>
          </p:cNvPr>
          <p:cNvSpPr>
            <a:spLocks noGrp="1"/>
          </p:cNvSpPr>
          <p:nvPr/>
        </p:nvSpPr>
        <p:spPr>
          <a:xfrm>
            <a:off x="8096250" y="48577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20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6D"/>
                </a:solidFill>
                <a:latin typeface="Arial"/>
                <a:ea typeface="Arial"/>
                <a:cs typeface="Arial"/>
              </a:rPr>
              <a:t>לאשר את מיפוי Kitaron ואת גבול הסנכרון החד־כיווני.</a:t>
            </a:r>
          </a:p>
        </p:txBody>
      </p:sp>
      <p:sp>
        <p:nvSpPr>
          <p:cNvPr id="16" name="close-gate">
            <a:extLst>
              <a:ext uri="{FF2B5EF4-FFF2-40B4-BE49-F238E27FC236}">
                <a16:creationId xmlns:a16="http://schemas.microsoft.com/office/drawing/2014/main" id="{EEDD9BC8-8F03-4CF3-8FA8-83CAB6DC69E1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763250" cy="419100"/>
          </a:xfrm>
          <a:prstGeom prst="roundRect">
            <a:avLst>
              <a:gd name="adj" fmla="val 18182"/>
            </a:avLst>
          </a:prstGeom>
          <a:solidFill>
            <a:srgbClr val="163441"/>
          </a:solidFill>
          <a:ln w="0">
            <a:noFill/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7" name="close-gate-text">
            <a:extLst>
              <a:ext uri="{FF2B5EF4-FFF2-40B4-BE49-F238E27FC236}">
                <a16:creationId xmlns:a16="http://schemas.microsoft.com/office/drawing/2014/main" id="{61F864C3-3EE8-490E-BF3B-7EF269990CE7}"/>
              </a:ext>
            </a:extLst>
          </p:cNvPr>
          <p:cNvSpPr>
            <a:spLocks noGrp="1"/>
          </p:cNvSpPr>
          <p:nvPr/>
        </p:nvSpPr>
        <p:spPr>
          <a:xfrm>
            <a:off x="666750" y="5943600"/>
            <a:ext cx="10344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שער שחרור: לסגור את חסמי הזהות / TLS והגיבוי המתואם לפני הטמעה בייצור.</a:t>
            </a:r>
          </a:p>
        </p:txBody>
      </p:sp>
      <p:sp>
        <p:nvSpPr>
          <p:cNvPr id="18" name="footer-brand-10">
            <a:extLst>
              <a:ext uri="{FF2B5EF4-FFF2-40B4-BE49-F238E27FC236}">
                <a16:creationId xmlns:a16="http://schemas.microsoft.com/office/drawing/2014/main" id="{8B3016CE-45E6-4372-A27A-0B961F90E6AD}"/>
              </a:ext>
            </a:extLst>
          </p:cNvPr>
          <p:cNvSpPr>
            <a:spLocks noGrp="1"/>
          </p:cNvSpPr>
          <p:nvPr/>
        </p:nvSpPr>
        <p:spPr>
          <a:xfrm>
            <a:off x="400050" y="6438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BFD0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FD0D8"/>
                </a:solidFill>
                <a:latin typeface="Arial"/>
                <a:ea typeface="Arial"/>
                <a:cs typeface="Arial"/>
              </a:rPr>
              <a:t>MEIMAD  |  תכנון ייצור</a:t>
            </a:r>
          </a:p>
        </p:txBody>
      </p:sp>
      <p:sp>
        <p:nvSpPr>
          <p:cNvPr id="19" name="footer-page-10">
            <a:extLst>
              <a:ext uri="{FF2B5EF4-FFF2-40B4-BE49-F238E27FC236}">
                <a16:creationId xmlns:a16="http://schemas.microsoft.com/office/drawing/2014/main" id="{A90C79DF-34C0-447A-80B1-123EA2699C81}"/>
              </a:ext>
            </a:extLst>
          </p:cNvPr>
          <p:cNvSpPr>
            <a:spLocks noGrp="1"/>
          </p:cNvSpPr>
          <p:nvPr/>
        </p:nvSpPr>
        <p:spPr>
          <a:xfrm>
            <a:off x="11287125" y="64389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825" b="1">
                <a:solidFill>
                  <a:srgbClr val="BFD0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FD0D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29495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1286</Words>
  <Application>Microsoft Office PowerPoint</Application>
  <DocSecurity>0</DocSecurity>
  <PresentationFormat>Widescreen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Michael</cp:lastModifiedBy>
  <cp:revision>1</cp:revision>
  <dcterms:created xsi:type="dcterms:W3CDTF">2026-08-22T16:32:14Z</dcterms:created>
  <dcterms:modified xsi:type="dcterms:W3CDTF">2026-08-22T16:58:50Z</dcterms:modified>
</cp:coreProperties>
</file>